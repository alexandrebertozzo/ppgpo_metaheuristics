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heme/themeOverride1.xml" ContentType="application/vnd.openxmlformats-officedocument.themeOverr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90" r:id="rId8"/>
    <p:sldId id="262" r:id="rId9"/>
    <p:sldId id="263" r:id="rId10"/>
    <p:sldId id="264" r:id="rId11"/>
    <p:sldId id="265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1" r:id="rId36"/>
    <p:sldId id="293" r:id="rId37"/>
    <p:sldId id="294" r:id="rId38"/>
    <p:sldId id="295" r:id="rId39"/>
    <p:sldId id="296" r:id="rId40"/>
    <p:sldId id="297" r:id="rId41"/>
    <p:sldId id="298" r:id="rId42"/>
    <p:sldId id="292" r:id="rId43"/>
    <p:sldId id="299" r:id="rId4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54" autoAdjust="0"/>
    <p:restoredTop sz="94660"/>
  </p:normalViewPr>
  <p:slideViewPr>
    <p:cSldViewPr snapToGrid="0" snapToObjects="1">
      <p:cViewPr>
        <p:scale>
          <a:sx n="100" d="100"/>
          <a:sy n="100" d="100"/>
        </p:scale>
        <p:origin x="2124" y="1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F11065C-98AA-4CB3-8A26-68F01EA18DD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A63DD3E3-A9A8-4679-86EB-6EBC824F885F}">
      <dgm:prSet/>
      <dgm:spPr/>
      <dgm:t>
        <a:bodyPr/>
        <a:lstStyle/>
        <a:p>
          <a:r>
            <a:rPr lang="en-US"/>
            <a:t>O problema abordado é o Variable Sized Bin Packing Problem (VSBPP), resolvido com meta-heurísticas.</a:t>
          </a:r>
        </a:p>
      </dgm:t>
    </dgm:pt>
    <dgm:pt modelId="{52E1AFF3-7C7A-45FD-8E34-3460ECA63586}" type="parTrans" cxnId="{37A8B6AC-22B7-4296-A43B-4F3C37B2A367}">
      <dgm:prSet/>
      <dgm:spPr/>
      <dgm:t>
        <a:bodyPr/>
        <a:lstStyle/>
        <a:p>
          <a:endParaRPr lang="en-US"/>
        </a:p>
      </dgm:t>
    </dgm:pt>
    <dgm:pt modelId="{F1F211F8-F97F-4A8B-B8AA-7F9409716D62}" type="sibTrans" cxnId="{37A8B6AC-22B7-4296-A43B-4F3C37B2A367}">
      <dgm:prSet/>
      <dgm:spPr/>
      <dgm:t>
        <a:bodyPr/>
        <a:lstStyle/>
        <a:p>
          <a:endParaRPr lang="en-US"/>
        </a:p>
      </dgm:t>
    </dgm:pt>
    <dgm:pt modelId="{C3758537-06AE-4409-B3AC-1F04F7E36D94}">
      <dgm:prSet/>
      <dgm:spPr/>
      <dgm:t>
        <a:bodyPr/>
        <a:lstStyle/>
        <a:p>
          <a:r>
            <a:rPr lang="en-US"/>
            <a:t>O artigo de referência é Hemmelmayr et al. (2012), que propõe VNS (Variable Neighbourhood Search).</a:t>
          </a:r>
        </a:p>
      </dgm:t>
    </dgm:pt>
    <dgm:pt modelId="{A2C061C1-3AA5-44DB-AF17-18373013809B}" type="parTrans" cxnId="{E1795A95-CC58-4E61-864C-AC3708806719}">
      <dgm:prSet/>
      <dgm:spPr/>
      <dgm:t>
        <a:bodyPr/>
        <a:lstStyle/>
        <a:p>
          <a:endParaRPr lang="en-US"/>
        </a:p>
      </dgm:t>
    </dgm:pt>
    <dgm:pt modelId="{BF1677DB-25FF-48CB-99EC-2C430CFD8676}" type="sibTrans" cxnId="{E1795A95-CC58-4E61-864C-AC3708806719}">
      <dgm:prSet/>
      <dgm:spPr/>
      <dgm:t>
        <a:bodyPr/>
        <a:lstStyle/>
        <a:p>
          <a:endParaRPr lang="en-US"/>
        </a:p>
      </dgm:t>
    </dgm:pt>
    <dgm:pt modelId="{0A3860B5-FFC3-4419-BE1B-BB6F99385374}">
      <dgm:prSet/>
      <dgm:spPr/>
      <dgm:t>
        <a:bodyPr/>
        <a:lstStyle/>
        <a:p>
          <a:r>
            <a:rPr lang="en-US" dirty="0"/>
            <a:t>Neste </a:t>
          </a:r>
          <a:r>
            <a:rPr lang="en-US" dirty="0" err="1"/>
            <a:t>trabalho</a:t>
          </a:r>
          <a:r>
            <a:rPr lang="en-US" dirty="0"/>
            <a:t>, </a:t>
          </a:r>
          <a:r>
            <a:rPr lang="en-US" dirty="0" err="1"/>
            <a:t>foi</a:t>
          </a:r>
          <a:r>
            <a:rPr lang="en-US" dirty="0"/>
            <a:t> </a:t>
          </a:r>
          <a:r>
            <a:rPr lang="en-US" dirty="0" err="1"/>
            <a:t>desenvolvido</a:t>
          </a:r>
          <a:r>
            <a:rPr lang="en-US" dirty="0"/>
            <a:t> um </a:t>
          </a:r>
          <a:r>
            <a:rPr lang="en-US" dirty="0" err="1"/>
            <a:t>algoritmo</a:t>
          </a:r>
          <a:r>
            <a:rPr lang="en-US" dirty="0"/>
            <a:t> de </a:t>
          </a:r>
          <a:r>
            <a:rPr lang="en-US" dirty="0" err="1"/>
            <a:t>Busca</a:t>
          </a:r>
          <a:r>
            <a:rPr lang="en-US" dirty="0"/>
            <a:t> Local Descent e Simulated </a:t>
          </a:r>
          <a:r>
            <a:rPr lang="en-US" dirty="0" err="1"/>
            <a:t>Anneling</a:t>
          </a:r>
          <a:r>
            <a:rPr lang="en-US" dirty="0"/>
            <a:t>.</a:t>
          </a:r>
        </a:p>
      </dgm:t>
    </dgm:pt>
    <dgm:pt modelId="{D84474AF-8D09-46FA-B694-8473592A1DF0}" type="parTrans" cxnId="{329E9F89-0C91-4F98-BAD0-8C53C140AA38}">
      <dgm:prSet/>
      <dgm:spPr/>
      <dgm:t>
        <a:bodyPr/>
        <a:lstStyle/>
        <a:p>
          <a:endParaRPr lang="en-US"/>
        </a:p>
      </dgm:t>
    </dgm:pt>
    <dgm:pt modelId="{26C8D532-833C-4E8E-9E39-23DE6726C4E1}" type="sibTrans" cxnId="{329E9F89-0C91-4F98-BAD0-8C53C140AA38}">
      <dgm:prSet/>
      <dgm:spPr/>
      <dgm:t>
        <a:bodyPr/>
        <a:lstStyle/>
        <a:p>
          <a:endParaRPr lang="en-US"/>
        </a:p>
      </dgm:t>
    </dgm:pt>
    <dgm:pt modelId="{8EEF31F0-0488-44C0-8C19-B88B37D7F11F}">
      <dgm:prSet/>
      <dgm:spPr/>
      <dgm:t>
        <a:bodyPr/>
        <a:lstStyle/>
        <a:p>
          <a:r>
            <a:rPr lang="en-US"/>
            <a:t>Objetivo: Comparar o desempenho da implementação atual com os resultados reportados no artigo.</a:t>
          </a:r>
        </a:p>
      </dgm:t>
    </dgm:pt>
    <dgm:pt modelId="{21BF9C27-A97E-42B5-94A4-BFA699290105}" type="parTrans" cxnId="{5733BB9A-38BE-40AA-AAC0-E6A7D6D98277}">
      <dgm:prSet/>
      <dgm:spPr/>
      <dgm:t>
        <a:bodyPr/>
        <a:lstStyle/>
        <a:p>
          <a:endParaRPr lang="en-US"/>
        </a:p>
      </dgm:t>
    </dgm:pt>
    <dgm:pt modelId="{2199B395-C3AB-4EB6-A749-F146CCBF416B}" type="sibTrans" cxnId="{5733BB9A-38BE-40AA-AAC0-E6A7D6D98277}">
      <dgm:prSet/>
      <dgm:spPr/>
      <dgm:t>
        <a:bodyPr/>
        <a:lstStyle/>
        <a:p>
          <a:endParaRPr lang="en-US"/>
        </a:p>
      </dgm:t>
    </dgm:pt>
    <dgm:pt modelId="{29016929-F6A4-4FF4-B5A9-BF0E2C6108D9}" type="pres">
      <dgm:prSet presAssocID="{5F11065C-98AA-4CB3-8A26-68F01EA18DD3}" presName="root" presStyleCnt="0">
        <dgm:presLayoutVars>
          <dgm:dir/>
          <dgm:resizeHandles val="exact"/>
        </dgm:presLayoutVars>
      </dgm:prSet>
      <dgm:spPr/>
    </dgm:pt>
    <dgm:pt modelId="{918594B6-4C02-4DB8-BEBC-CB52CF6515DC}" type="pres">
      <dgm:prSet presAssocID="{A63DD3E3-A9A8-4679-86EB-6EBC824F885F}" presName="compNode" presStyleCnt="0"/>
      <dgm:spPr/>
    </dgm:pt>
    <dgm:pt modelId="{593040A4-64E9-4DBE-8E86-2F61FE3998C4}" type="pres">
      <dgm:prSet presAssocID="{A63DD3E3-A9A8-4679-86EB-6EBC824F885F}" presName="bgRect" presStyleLbl="bgShp" presStyleIdx="0" presStyleCnt="4"/>
      <dgm:spPr/>
    </dgm:pt>
    <dgm:pt modelId="{B74061E3-37A5-4E05-88D1-F2602811479F}" type="pres">
      <dgm:prSet presAssocID="{A63DD3E3-A9A8-4679-86EB-6EBC824F885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scavadeira"/>
        </a:ext>
      </dgm:extLst>
    </dgm:pt>
    <dgm:pt modelId="{46916631-B107-47CC-873B-BFAA94F6B01F}" type="pres">
      <dgm:prSet presAssocID="{A63DD3E3-A9A8-4679-86EB-6EBC824F885F}" presName="spaceRect" presStyleCnt="0"/>
      <dgm:spPr/>
    </dgm:pt>
    <dgm:pt modelId="{C983B643-7141-4C77-ABCB-E76C7FA740E7}" type="pres">
      <dgm:prSet presAssocID="{A63DD3E3-A9A8-4679-86EB-6EBC824F885F}" presName="parTx" presStyleLbl="revTx" presStyleIdx="0" presStyleCnt="4">
        <dgm:presLayoutVars>
          <dgm:chMax val="0"/>
          <dgm:chPref val="0"/>
        </dgm:presLayoutVars>
      </dgm:prSet>
      <dgm:spPr/>
    </dgm:pt>
    <dgm:pt modelId="{18502166-0D51-4B01-8A88-7AD51C526125}" type="pres">
      <dgm:prSet presAssocID="{F1F211F8-F97F-4A8B-B8AA-7F9409716D62}" presName="sibTrans" presStyleCnt="0"/>
      <dgm:spPr/>
    </dgm:pt>
    <dgm:pt modelId="{5A2C54C4-0DA4-4AF8-934A-C6C37D2B4D39}" type="pres">
      <dgm:prSet presAssocID="{C3758537-06AE-4409-B3AC-1F04F7E36D94}" presName="compNode" presStyleCnt="0"/>
      <dgm:spPr/>
    </dgm:pt>
    <dgm:pt modelId="{793E07A5-2553-4644-AA67-FDF03A67BDD9}" type="pres">
      <dgm:prSet presAssocID="{C3758537-06AE-4409-B3AC-1F04F7E36D94}" presName="bgRect" presStyleLbl="bgShp" presStyleIdx="1" presStyleCnt="4"/>
      <dgm:spPr/>
    </dgm:pt>
    <dgm:pt modelId="{48EFBCC9-A6E2-4597-ADB1-5146166D290E}" type="pres">
      <dgm:prSet presAssocID="{C3758537-06AE-4409-B3AC-1F04F7E36D9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sed Quotation Mark"/>
        </a:ext>
      </dgm:extLst>
    </dgm:pt>
    <dgm:pt modelId="{51358017-A05C-4D54-A85F-E7E8F82FE599}" type="pres">
      <dgm:prSet presAssocID="{C3758537-06AE-4409-B3AC-1F04F7E36D94}" presName="spaceRect" presStyleCnt="0"/>
      <dgm:spPr/>
    </dgm:pt>
    <dgm:pt modelId="{F073EC4A-2E3C-4FE9-A443-429AD0D541B8}" type="pres">
      <dgm:prSet presAssocID="{C3758537-06AE-4409-B3AC-1F04F7E36D94}" presName="parTx" presStyleLbl="revTx" presStyleIdx="1" presStyleCnt="4">
        <dgm:presLayoutVars>
          <dgm:chMax val="0"/>
          <dgm:chPref val="0"/>
        </dgm:presLayoutVars>
      </dgm:prSet>
      <dgm:spPr/>
    </dgm:pt>
    <dgm:pt modelId="{D7A7CB74-14E1-450A-B058-054EAF464515}" type="pres">
      <dgm:prSet presAssocID="{BF1677DB-25FF-48CB-99EC-2C430CFD8676}" presName="sibTrans" presStyleCnt="0"/>
      <dgm:spPr/>
    </dgm:pt>
    <dgm:pt modelId="{C90E416D-27FB-443A-BD6F-681244D03F37}" type="pres">
      <dgm:prSet presAssocID="{0A3860B5-FFC3-4419-BE1B-BB6F99385374}" presName="compNode" presStyleCnt="0"/>
      <dgm:spPr/>
    </dgm:pt>
    <dgm:pt modelId="{764480AA-BB8E-4EE5-8B4A-4DA30F3E6CB5}" type="pres">
      <dgm:prSet presAssocID="{0A3860B5-FFC3-4419-BE1B-BB6F99385374}" presName="bgRect" presStyleLbl="bgShp" presStyleIdx="2" presStyleCnt="4"/>
      <dgm:spPr/>
    </dgm:pt>
    <dgm:pt modelId="{2C3C749D-4E4C-4772-8038-F2948DD08F2E}" type="pres">
      <dgm:prSet presAssocID="{0A3860B5-FFC3-4419-BE1B-BB6F9938537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dor"/>
        </a:ext>
      </dgm:extLst>
    </dgm:pt>
    <dgm:pt modelId="{28A9A436-E985-456D-9EA1-ED8E5DCAA24C}" type="pres">
      <dgm:prSet presAssocID="{0A3860B5-FFC3-4419-BE1B-BB6F99385374}" presName="spaceRect" presStyleCnt="0"/>
      <dgm:spPr/>
    </dgm:pt>
    <dgm:pt modelId="{5D46FF3A-7CF7-447F-8854-4759C94A5333}" type="pres">
      <dgm:prSet presAssocID="{0A3860B5-FFC3-4419-BE1B-BB6F99385374}" presName="parTx" presStyleLbl="revTx" presStyleIdx="2" presStyleCnt="4">
        <dgm:presLayoutVars>
          <dgm:chMax val="0"/>
          <dgm:chPref val="0"/>
        </dgm:presLayoutVars>
      </dgm:prSet>
      <dgm:spPr/>
    </dgm:pt>
    <dgm:pt modelId="{85CFD101-9A4C-4923-9AFA-1B3231AA124E}" type="pres">
      <dgm:prSet presAssocID="{26C8D532-833C-4E8E-9E39-23DE6726C4E1}" presName="sibTrans" presStyleCnt="0"/>
      <dgm:spPr/>
    </dgm:pt>
    <dgm:pt modelId="{F737D1B0-7F7D-4145-B1CF-D2F88AF0AA5F}" type="pres">
      <dgm:prSet presAssocID="{8EEF31F0-0488-44C0-8C19-B88B37D7F11F}" presName="compNode" presStyleCnt="0"/>
      <dgm:spPr/>
    </dgm:pt>
    <dgm:pt modelId="{2A5F1C40-0A62-4B00-B38F-896AB165677E}" type="pres">
      <dgm:prSet presAssocID="{8EEF31F0-0488-44C0-8C19-B88B37D7F11F}" presName="bgRect" presStyleLbl="bgShp" presStyleIdx="3" presStyleCnt="4"/>
      <dgm:spPr/>
    </dgm:pt>
    <dgm:pt modelId="{B2432DC4-7F09-479B-B015-58381216003B}" type="pres">
      <dgm:prSet presAssocID="{8EEF31F0-0488-44C0-8C19-B88B37D7F11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a mosca"/>
        </a:ext>
      </dgm:extLst>
    </dgm:pt>
    <dgm:pt modelId="{B9BAE02F-F2F6-44BB-9C5D-0E15FE99C775}" type="pres">
      <dgm:prSet presAssocID="{8EEF31F0-0488-44C0-8C19-B88B37D7F11F}" presName="spaceRect" presStyleCnt="0"/>
      <dgm:spPr/>
    </dgm:pt>
    <dgm:pt modelId="{36EB58C3-A499-4DFE-862F-2429DEAFE277}" type="pres">
      <dgm:prSet presAssocID="{8EEF31F0-0488-44C0-8C19-B88B37D7F11F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B82C7D01-BEDE-4B29-92E2-AEAD11E06B54}" type="presOf" srcId="{C3758537-06AE-4409-B3AC-1F04F7E36D94}" destId="{F073EC4A-2E3C-4FE9-A443-429AD0D541B8}" srcOrd="0" destOrd="0" presId="urn:microsoft.com/office/officeart/2018/2/layout/IconVerticalSolidList"/>
    <dgm:cxn modelId="{02D17C1A-4E50-4385-8ACD-8BD31BDADC5E}" type="presOf" srcId="{8EEF31F0-0488-44C0-8C19-B88B37D7F11F}" destId="{36EB58C3-A499-4DFE-862F-2429DEAFE277}" srcOrd="0" destOrd="0" presId="urn:microsoft.com/office/officeart/2018/2/layout/IconVerticalSolidList"/>
    <dgm:cxn modelId="{329E9F89-0C91-4F98-BAD0-8C53C140AA38}" srcId="{5F11065C-98AA-4CB3-8A26-68F01EA18DD3}" destId="{0A3860B5-FFC3-4419-BE1B-BB6F99385374}" srcOrd="2" destOrd="0" parTransId="{D84474AF-8D09-46FA-B694-8473592A1DF0}" sibTransId="{26C8D532-833C-4E8E-9E39-23DE6726C4E1}"/>
    <dgm:cxn modelId="{E1795A95-CC58-4E61-864C-AC3708806719}" srcId="{5F11065C-98AA-4CB3-8A26-68F01EA18DD3}" destId="{C3758537-06AE-4409-B3AC-1F04F7E36D94}" srcOrd="1" destOrd="0" parTransId="{A2C061C1-3AA5-44DB-AF17-18373013809B}" sibTransId="{BF1677DB-25FF-48CB-99EC-2C430CFD8676}"/>
    <dgm:cxn modelId="{5733BB9A-38BE-40AA-AAC0-E6A7D6D98277}" srcId="{5F11065C-98AA-4CB3-8A26-68F01EA18DD3}" destId="{8EEF31F0-0488-44C0-8C19-B88B37D7F11F}" srcOrd="3" destOrd="0" parTransId="{21BF9C27-A97E-42B5-94A4-BFA699290105}" sibTransId="{2199B395-C3AB-4EB6-A749-F146CCBF416B}"/>
    <dgm:cxn modelId="{37A8B6AC-22B7-4296-A43B-4F3C37B2A367}" srcId="{5F11065C-98AA-4CB3-8A26-68F01EA18DD3}" destId="{A63DD3E3-A9A8-4679-86EB-6EBC824F885F}" srcOrd="0" destOrd="0" parTransId="{52E1AFF3-7C7A-45FD-8E34-3460ECA63586}" sibTransId="{F1F211F8-F97F-4A8B-B8AA-7F9409716D62}"/>
    <dgm:cxn modelId="{79657DB9-BBF7-4D5A-AA56-911656186087}" type="presOf" srcId="{0A3860B5-FFC3-4419-BE1B-BB6F99385374}" destId="{5D46FF3A-7CF7-447F-8854-4759C94A5333}" srcOrd="0" destOrd="0" presId="urn:microsoft.com/office/officeart/2018/2/layout/IconVerticalSolidList"/>
    <dgm:cxn modelId="{190FCBBB-AC44-4AB7-8444-663CE05E498B}" type="presOf" srcId="{A63DD3E3-A9A8-4679-86EB-6EBC824F885F}" destId="{C983B643-7141-4C77-ABCB-E76C7FA740E7}" srcOrd="0" destOrd="0" presId="urn:microsoft.com/office/officeart/2018/2/layout/IconVerticalSolidList"/>
    <dgm:cxn modelId="{50120EE5-FCD2-4288-AEFC-CF2D03ACDDEC}" type="presOf" srcId="{5F11065C-98AA-4CB3-8A26-68F01EA18DD3}" destId="{29016929-F6A4-4FF4-B5A9-BF0E2C6108D9}" srcOrd="0" destOrd="0" presId="urn:microsoft.com/office/officeart/2018/2/layout/IconVerticalSolidList"/>
    <dgm:cxn modelId="{DB410AC9-99B3-4C77-ADB3-C79FE386BD85}" type="presParOf" srcId="{29016929-F6A4-4FF4-B5A9-BF0E2C6108D9}" destId="{918594B6-4C02-4DB8-BEBC-CB52CF6515DC}" srcOrd="0" destOrd="0" presId="urn:microsoft.com/office/officeart/2018/2/layout/IconVerticalSolidList"/>
    <dgm:cxn modelId="{CC711835-4E21-4976-BD8D-FA6345226156}" type="presParOf" srcId="{918594B6-4C02-4DB8-BEBC-CB52CF6515DC}" destId="{593040A4-64E9-4DBE-8E86-2F61FE3998C4}" srcOrd="0" destOrd="0" presId="urn:microsoft.com/office/officeart/2018/2/layout/IconVerticalSolidList"/>
    <dgm:cxn modelId="{AE8B0373-7598-4CD1-9B3B-F87F35A3ED2E}" type="presParOf" srcId="{918594B6-4C02-4DB8-BEBC-CB52CF6515DC}" destId="{B74061E3-37A5-4E05-88D1-F2602811479F}" srcOrd="1" destOrd="0" presId="urn:microsoft.com/office/officeart/2018/2/layout/IconVerticalSolidList"/>
    <dgm:cxn modelId="{AF58DA86-7497-4077-B51E-67D4CAD66926}" type="presParOf" srcId="{918594B6-4C02-4DB8-BEBC-CB52CF6515DC}" destId="{46916631-B107-47CC-873B-BFAA94F6B01F}" srcOrd="2" destOrd="0" presId="urn:microsoft.com/office/officeart/2018/2/layout/IconVerticalSolidList"/>
    <dgm:cxn modelId="{77095125-3BA4-4FCB-832A-B946E288AC67}" type="presParOf" srcId="{918594B6-4C02-4DB8-BEBC-CB52CF6515DC}" destId="{C983B643-7141-4C77-ABCB-E76C7FA740E7}" srcOrd="3" destOrd="0" presId="urn:microsoft.com/office/officeart/2018/2/layout/IconVerticalSolidList"/>
    <dgm:cxn modelId="{7850BDA9-F6F4-4BB3-97AD-3B08AB20C169}" type="presParOf" srcId="{29016929-F6A4-4FF4-B5A9-BF0E2C6108D9}" destId="{18502166-0D51-4B01-8A88-7AD51C526125}" srcOrd="1" destOrd="0" presId="urn:microsoft.com/office/officeart/2018/2/layout/IconVerticalSolidList"/>
    <dgm:cxn modelId="{60E62710-40FA-4A25-898D-AD2AC0686FD8}" type="presParOf" srcId="{29016929-F6A4-4FF4-B5A9-BF0E2C6108D9}" destId="{5A2C54C4-0DA4-4AF8-934A-C6C37D2B4D39}" srcOrd="2" destOrd="0" presId="urn:microsoft.com/office/officeart/2018/2/layout/IconVerticalSolidList"/>
    <dgm:cxn modelId="{35C98732-F9DA-453D-86D3-1AF2C79CF911}" type="presParOf" srcId="{5A2C54C4-0DA4-4AF8-934A-C6C37D2B4D39}" destId="{793E07A5-2553-4644-AA67-FDF03A67BDD9}" srcOrd="0" destOrd="0" presId="urn:microsoft.com/office/officeart/2018/2/layout/IconVerticalSolidList"/>
    <dgm:cxn modelId="{75ACA41E-58A3-4E7F-95D3-F1A0E9CBB9C6}" type="presParOf" srcId="{5A2C54C4-0DA4-4AF8-934A-C6C37D2B4D39}" destId="{48EFBCC9-A6E2-4597-ADB1-5146166D290E}" srcOrd="1" destOrd="0" presId="urn:microsoft.com/office/officeart/2018/2/layout/IconVerticalSolidList"/>
    <dgm:cxn modelId="{A593998B-5F48-4E19-AF04-4D181DEC568C}" type="presParOf" srcId="{5A2C54C4-0DA4-4AF8-934A-C6C37D2B4D39}" destId="{51358017-A05C-4D54-A85F-E7E8F82FE599}" srcOrd="2" destOrd="0" presId="urn:microsoft.com/office/officeart/2018/2/layout/IconVerticalSolidList"/>
    <dgm:cxn modelId="{23167592-17AC-4204-9205-8BB77D0933B4}" type="presParOf" srcId="{5A2C54C4-0DA4-4AF8-934A-C6C37D2B4D39}" destId="{F073EC4A-2E3C-4FE9-A443-429AD0D541B8}" srcOrd="3" destOrd="0" presId="urn:microsoft.com/office/officeart/2018/2/layout/IconVerticalSolidList"/>
    <dgm:cxn modelId="{85B600F8-81B3-4A12-BAC0-3D927DA88FCE}" type="presParOf" srcId="{29016929-F6A4-4FF4-B5A9-BF0E2C6108D9}" destId="{D7A7CB74-14E1-450A-B058-054EAF464515}" srcOrd="3" destOrd="0" presId="urn:microsoft.com/office/officeart/2018/2/layout/IconVerticalSolidList"/>
    <dgm:cxn modelId="{A4BC5EAD-3838-4F30-9476-6B2764E3F408}" type="presParOf" srcId="{29016929-F6A4-4FF4-B5A9-BF0E2C6108D9}" destId="{C90E416D-27FB-443A-BD6F-681244D03F37}" srcOrd="4" destOrd="0" presId="urn:microsoft.com/office/officeart/2018/2/layout/IconVerticalSolidList"/>
    <dgm:cxn modelId="{3A612832-A083-4E5D-A701-C671C14D1211}" type="presParOf" srcId="{C90E416D-27FB-443A-BD6F-681244D03F37}" destId="{764480AA-BB8E-4EE5-8B4A-4DA30F3E6CB5}" srcOrd="0" destOrd="0" presId="urn:microsoft.com/office/officeart/2018/2/layout/IconVerticalSolidList"/>
    <dgm:cxn modelId="{FCEC27B4-4CC7-421C-8C16-B16FE39BC562}" type="presParOf" srcId="{C90E416D-27FB-443A-BD6F-681244D03F37}" destId="{2C3C749D-4E4C-4772-8038-F2948DD08F2E}" srcOrd="1" destOrd="0" presId="urn:microsoft.com/office/officeart/2018/2/layout/IconVerticalSolidList"/>
    <dgm:cxn modelId="{CF5EFEB3-99E6-45F1-B794-F064F6FBA9A3}" type="presParOf" srcId="{C90E416D-27FB-443A-BD6F-681244D03F37}" destId="{28A9A436-E985-456D-9EA1-ED8E5DCAA24C}" srcOrd="2" destOrd="0" presId="urn:microsoft.com/office/officeart/2018/2/layout/IconVerticalSolidList"/>
    <dgm:cxn modelId="{928FECA6-10A5-43AA-9C45-FADA6C4C4E3E}" type="presParOf" srcId="{C90E416D-27FB-443A-BD6F-681244D03F37}" destId="{5D46FF3A-7CF7-447F-8854-4759C94A5333}" srcOrd="3" destOrd="0" presId="urn:microsoft.com/office/officeart/2018/2/layout/IconVerticalSolidList"/>
    <dgm:cxn modelId="{9F9CEA99-80CB-4C4A-AC1B-ECE65FCC075D}" type="presParOf" srcId="{29016929-F6A4-4FF4-B5A9-BF0E2C6108D9}" destId="{85CFD101-9A4C-4923-9AFA-1B3231AA124E}" srcOrd="5" destOrd="0" presId="urn:microsoft.com/office/officeart/2018/2/layout/IconVerticalSolidList"/>
    <dgm:cxn modelId="{4F6B3BC4-3DA9-4984-B3DE-C08C0D9ABB83}" type="presParOf" srcId="{29016929-F6A4-4FF4-B5A9-BF0E2C6108D9}" destId="{F737D1B0-7F7D-4145-B1CF-D2F88AF0AA5F}" srcOrd="6" destOrd="0" presId="urn:microsoft.com/office/officeart/2018/2/layout/IconVerticalSolidList"/>
    <dgm:cxn modelId="{59F2FBA4-75C6-4CA6-8FA6-1639598073F0}" type="presParOf" srcId="{F737D1B0-7F7D-4145-B1CF-D2F88AF0AA5F}" destId="{2A5F1C40-0A62-4B00-B38F-896AB165677E}" srcOrd="0" destOrd="0" presId="urn:microsoft.com/office/officeart/2018/2/layout/IconVerticalSolidList"/>
    <dgm:cxn modelId="{FB1364F6-FA3F-43AC-B23B-85568D8F2FC7}" type="presParOf" srcId="{F737D1B0-7F7D-4145-B1CF-D2F88AF0AA5F}" destId="{B2432DC4-7F09-479B-B015-58381216003B}" srcOrd="1" destOrd="0" presId="urn:microsoft.com/office/officeart/2018/2/layout/IconVerticalSolidList"/>
    <dgm:cxn modelId="{985A839F-87E2-43E8-B9E4-AE0B1D8C17DC}" type="presParOf" srcId="{F737D1B0-7F7D-4145-B1CF-D2F88AF0AA5F}" destId="{B9BAE02F-F2F6-44BB-9C5D-0E15FE99C775}" srcOrd="2" destOrd="0" presId="urn:microsoft.com/office/officeart/2018/2/layout/IconVerticalSolidList"/>
    <dgm:cxn modelId="{63D0BED9-2FD2-481C-8714-5E7ADDDA4981}" type="presParOf" srcId="{F737D1B0-7F7D-4145-B1CF-D2F88AF0AA5F}" destId="{36EB58C3-A499-4DFE-862F-2429DEAFE27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7480C78-B083-4AEF-8EA5-E077A939C761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C249B094-7D5D-49FA-BFD1-F3402A9967B1}">
      <dgm:prSet/>
      <dgm:spPr/>
      <dgm:t>
        <a:bodyPr/>
        <a:lstStyle/>
        <a:p>
          <a:pPr>
            <a:defRPr cap="all"/>
          </a:pPr>
          <a:r>
            <a:rPr lang="en-US"/>
            <a:t>A métrica utilizada para comparar os métodos foi o GAP percentual em relação ao custo ótimo conhecido:</a:t>
          </a:r>
        </a:p>
      </dgm:t>
    </dgm:pt>
    <dgm:pt modelId="{5576FF26-6819-4000-AB2A-35C19062C850}" type="parTrans" cxnId="{480CDB62-C2CE-4CD4-B8FB-1DED972CD2B9}">
      <dgm:prSet/>
      <dgm:spPr/>
      <dgm:t>
        <a:bodyPr/>
        <a:lstStyle/>
        <a:p>
          <a:endParaRPr lang="en-US"/>
        </a:p>
      </dgm:t>
    </dgm:pt>
    <dgm:pt modelId="{6F7F3ED2-23F6-4682-90DD-FAB3930A79C8}" type="sibTrans" cxnId="{480CDB62-C2CE-4CD4-B8FB-1DED972CD2B9}">
      <dgm:prSet/>
      <dgm:spPr/>
      <dgm:t>
        <a:bodyPr/>
        <a:lstStyle/>
        <a:p>
          <a:endParaRPr lang="en-US"/>
        </a:p>
      </dgm:t>
    </dgm:pt>
    <dgm:pt modelId="{29266185-4812-44A3-99B5-28CFEB236FC0}">
      <dgm:prSet/>
      <dgm:spPr/>
      <dgm:t>
        <a:bodyPr/>
        <a:lstStyle/>
        <a:p>
          <a:pPr>
            <a:defRPr cap="all"/>
          </a:pPr>
          <a:r>
            <a:rPr lang="en-US"/>
            <a:t>GAP = 100 * (CustoObtido CustoÓtimo) / CustoÓtimo</a:t>
          </a:r>
        </a:p>
      </dgm:t>
    </dgm:pt>
    <dgm:pt modelId="{9A7C0C5E-DA08-4591-B1E1-EE4385E218F1}" type="parTrans" cxnId="{C7764B18-AA01-4257-975F-B0BF14CD9118}">
      <dgm:prSet/>
      <dgm:spPr/>
      <dgm:t>
        <a:bodyPr/>
        <a:lstStyle/>
        <a:p>
          <a:endParaRPr lang="en-US"/>
        </a:p>
      </dgm:t>
    </dgm:pt>
    <dgm:pt modelId="{A05CB21C-93A6-4351-B571-CC5B37CBB46F}" type="sibTrans" cxnId="{C7764B18-AA01-4257-975F-B0BF14CD9118}">
      <dgm:prSet/>
      <dgm:spPr/>
      <dgm:t>
        <a:bodyPr/>
        <a:lstStyle/>
        <a:p>
          <a:endParaRPr lang="en-US"/>
        </a:p>
      </dgm:t>
    </dgm:pt>
    <dgm:pt modelId="{0E75F117-8F5F-448B-8265-4C2F6B8BFBB0}">
      <dgm:prSet/>
      <dgm:spPr/>
      <dgm:t>
        <a:bodyPr/>
        <a:lstStyle/>
        <a:p>
          <a:pPr>
            <a:defRPr cap="all"/>
          </a:pPr>
          <a:r>
            <a:rPr lang="en-US"/>
            <a:t>Fontes dos ótimos: Tabelas 5, 6 e 7 do artigo.</a:t>
          </a:r>
        </a:p>
      </dgm:t>
    </dgm:pt>
    <dgm:pt modelId="{DC6FCA60-C7F2-4287-BB0E-9FDB1F136808}" type="parTrans" cxnId="{FD2E9E7A-7ECA-494A-B007-031D8FDD2706}">
      <dgm:prSet/>
      <dgm:spPr/>
      <dgm:t>
        <a:bodyPr/>
        <a:lstStyle/>
        <a:p>
          <a:endParaRPr lang="en-US"/>
        </a:p>
      </dgm:t>
    </dgm:pt>
    <dgm:pt modelId="{F1ADF62A-700A-42A2-91B1-0C6FFF4059DF}" type="sibTrans" cxnId="{FD2E9E7A-7ECA-494A-B007-031D8FDD2706}">
      <dgm:prSet/>
      <dgm:spPr/>
      <dgm:t>
        <a:bodyPr/>
        <a:lstStyle/>
        <a:p>
          <a:endParaRPr lang="en-US"/>
        </a:p>
      </dgm:t>
    </dgm:pt>
    <dgm:pt modelId="{B716A5BC-F87B-4D1E-81B2-833B50AB33F5}" type="pres">
      <dgm:prSet presAssocID="{27480C78-B083-4AEF-8EA5-E077A939C761}" presName="root" presStyleCnt="0">
        <dgm:presLayoutVars>
          <dgm:dir/>
          <dgm:resizeHandles val="exact"/>
        </dgm:presLayoutVars>
      </dgm:prSet>
      <dgm:spPr/>
    </dgm:pt>
    <dgm:pt modelId="{F2D4FE76-D6CE-417A-BE10-A2E27BD6AA26}" type="pres">
      <dgm:prSet presAssocID="{C249B094-7D5D-49FA-BFD1-F3402A9967B1}" presName="compNode" presStyleCnt="0"/>
      <dgm:spPr/>
    </dgm:pt>
    <dgm:pt modelId="{DF86C16F-73A0-43EC-8C48-D5574BD964B1}" type="pres">
      <dgm:prSet presAssocID="{C249B094-7D5D-49FA-BFD1-F3402A9967B1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F06333DB-7A42-4B81-AFAF-24B91AB7E273}" type="pres">
      <dgm:prSet presAssocID="{C249B094-7D5D-49FA-BFD1-F3402A9967B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statísticas"/>
        </a:ext>
      </dgm:extLst>
    </dgm:pt>
    <dgm:pt modelId="{67651FEB-546D-4664-B61B-864A66626DD6}" type="pres">
      <dgm:prSet presAssocID="{C249B094-7D5D-49FA-BFD1-F3402A9967B1}" presName="spaceRect" presStyleCnt="0"/>
      <dgm:spPr/>
    </dgm:pt>
    <dgm:pt modelId="{3576F246-D0B9-4DE3-985E-3F549EAD3C02}" type="pres">
      <dgm:prSet presAssocID="{C249B094-7D5D-49FA-BFD1-F3402A9967B1}" presName="textRect" presStyleLbl="revTx" presStyleIdx="0" presStyleCnt="3">
        <dgm:presLayoutVars>
          <dgm:chMax val="1"/>
          <dgm:chPref val="1"/>
        </dgm:presLayoutVars>
      </dgm:prSet>
      <dgm:spPr/>
    </dgm:pt>
    <dgm:pt modelId="{DBF9EA0D-CE46-4EE8-A6BC-0070FB72D5B9}" type="pres">
      <dgm:prSet presAssocID="{6F7F3ED2-23F6-4682-90DD-FAB3930A79C8}" presName="sibTrans" presStyleCnt="0"/>
      <dgm:spPr/>
    </dgm:pt>
    <dgm:pt modelId="{FABE7641-67F1-499A-9F35-FD821EAEE226}" type="pres">
      <dgm:prSet presAssocID="{29266185-4812-44A3-99B5-28CFEB236FC0}" presName="compNode" presStyleCnt="0"/>
      <dgm:spPr/>
    </dgm:pt>
    <dgm:pt modelId="{CAEE0DB4-00DF-4B0D-A82F-5963F8A834EE}" type="pres">
      <dgm:prSet presAssocID="{29266185-4812-44A3-99B5-28CFEB236FC0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4BA6CC15-384F-42AD-967B-EFCD7364E4D8}" type="pres">
      <dgm:prSet presAssocID="{29266185-4812-44A3-99B5-28CFEB236FC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334CECBC-04F6-4199-8369-571338A94E17}" type="pres">
      <dgm:prSet presAssocID="{29266185-4812-44A3-99B5-28CFEB236FC0}" presName="spaceRect" presStyleCnt="0"/>
      <dgm:spPr/>
    </dgm:pt>
    <dgm:pt modelId="{E6BD5C32-7397-4245-974E-8CD6ABB4EB95}" type="pres">
      <dgm:prSet presAssocID="{29266185-4812-44A3-99B5-28CFEB236FC0}" presName="textRect" presStyleLbl="revTx" presStyleIdx="1" presStyleCnt="3">
        <dgm:presLayoutVars>
          <dgm:chMax val="1"/>
          <dgm:chPref val="1"/>
        </dgm:presLayoutVars>
      </dgm:prSet>
      <dgm:spPr/>
    </dgm:pt>
    <dgm:pt modelId="{CDCDD122-E37F-44AB-9626-3187AD7015F6}" type="pres">
      <dgm:prSet presAssocID="{A05CB21C-93A6-4351-B571-CC5B37CBB46F}" presName="sibTrans" presStyleCnt="0"/>
      <dgm:spPr/>
    </dgm:pt>
    <dgm:pt modelId="{7636D130-D196-405E-9449-FD758846EC25}" type="pres">
      <dgm:prSet presAssocID="{0E75F117-8F5F-448B-8265-4C2F6B8BFBB0}" presName="compNode" presStyleCnt="0"/>
      <dgm:spPr/>
    </dgm:pt>
    <dgm:pt modelId="{DC3AB925-3F3D-4ADB-ABDB-26A16B3A3900}" type="pres">
      <dgm:prSet presAssocID="{0E75F117-8F5F-448B-8265-4C2F6B8BFBB0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30BE09F6-D3B8-408F-B296-957F79CBC041}" type="pres">
      <dgm:prSet presAssocID="{0E75F117-8F5F-448B-8265-4C2F6B8BFBB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Água"/>
        </a:ext>
      </dgm:extLst>
    </dgm:pt>
    <dgm:pt modelId="{E9263508-DF31-4086-95A9-48E629689A65}" type="pres">
      <dgm:prSet presAssocID="{0E75F117-8F5F-448B-8265-4C2F6B8BFBB0}" presName="spaceRect" presStyleCnt="0"/>
      <dgm:spPr/>
    </dgm:pt>
    <dgm:pt modelId="{11359FED-E125-468D-ACC5-95DCB3581EBE}" type="pres">
      <dgm:prSet presAssocID="{0E75F117-8F5F-448B-8265-4C2F6B8BFBB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B653305-84D6-4F4A-B8B6-0DCC246C0492}" type="presOf" srcId="{27480C78-B083-4AEF-8EA5-E077A939C761}" destId="{B716A5BC-F87B-4D1E-81B2-833B50AB33F5}" srcOrd="0" destOrd="0" presId="urn:microsoft.com/office/officeart/2018/5/layout/IconLeafLabelList"/>
    <dgm:cxn modelId="{C7764B18-AA01-4257-975F-B0BF14CD9118}" srcId="{27480C78-B083-4AEF-8EA5-E077A939C761}" destId="{29266185-4812-44A3-99B5-28CFEB236FC0}" srcOrd="1" destOrd="0" parTransId="{9A7C0C5E-DA08-4591-B1E1-EE4385E218F1}" sibTransId="{A05CB21C-93A6-4351-B571-CC5B37CBB46F}"/>
    <dgm:cxn modelId="{0364E81F-D8E0-489A-A541-E26BBE258895}" type="presOf" srcId="{29266185-4812-44A3-99B5-28CFEB236FC0}" destId="{E6BD5C32-7397-4245-974E-8CD6ABB4EB95}" srcOrd="0" destOrd="0" presId="urn:microsoft.com/office/officeart/2018/5/layout/IconLeafLabelList"/>
    <dgm:cxn modelId="{480CDB62-C2CE-4CD4-B8FB-1DED972CD2B9}" srcId="{27480C78-B083-4AEF-8EA5-E077A939C761}" destId="{C249B094-7D5D-49FA-BFD1-F3402A9967B1}" srcOrd="0" destOrd="0" parTransId="{5576FF26-6819-4000-AB2A-35C19062C850}" sibTransId="{6F7F3ED2-23F6-4682-90DD-FAB3930A79C8}"/>
    <dgm:cxn modelId="{B2C7E872-0531-4CFE-A83D-7D2F35B39249}" type="presOf" srcId="{0E75F117-8F5F-448B-8265-4C2F6B8BFBB0}" destId="{11359FED-E125-468D-ACC5-95DCB3581EBE}" srcOrd="0" destOrd="0" presId="urn:microsoft.com/office/officeart/2018/5/layout/IconLeafLabelList"/>
    <dgm:cxn modelId="{FD2E9E7A-7ECA-494A-B007-031D8FDD2706}" srcId="{27480C78-B083-4AEF-8EA5-E077A939C761}" destId="{0E75F117-8F5F-448B-8265-4C2F6B8BFBB0}" srcOrd="2" destOrd="0" parTransId="{DC6FCA60-C7F2-4287-BB0E-9FDB1F136808}" sibTransId="{F1ADF62A-700A-42A2-91B1-0C6FFF4059DF}"/>
    <dgm:cxn modelId="{3E4093E5-8FAA-4BA2-8483-6A5A88670538}" type="presOf" srcId="{C249B094-7D5D-49FA-BFD1-F3402A9967B1}" destId="{3576F246-D0B9-4DE3-985E-3F549EAD3C02}" srcOrd="0" destOrd="0" presId="urn:microsoft.com/office/officeart/2018/5/layout/IconLeafLabelList"/>
    <dgm:cxn modelId="{244A38D1-C05D-4F5B-B8E9-FDC824CD94C9}" type="presParOf" srcId="{B716A5BC-F87B-4D1E-81B2-833B50AB33F5}" destId="{F2D4FE76-D6CE-417A-BE10-A2E27BD6AA26}" srcOrd="0" destOrd="0" presId="urn:microsoft.com/office/officeart/2018/5/layout/IconLeafLabelList"/>
    <dgm:cxn modelId="{6A856EA0-76FA-4221-8FD7-3F4B13F29E43}" type="presParOf" srcId="{F2D4FE76-D6CE-417A-BE10-A2E27BD6AA26}" destId="{DF86C16F-73A0-43EC-8C48-D5574BD964B1}" srcOrd="0" destOrd="0" presId="urn:microsoft.com/office/officeart/2018/5/layout/IconLeafLabelList"/>
    <dgm:cxn modelId="{EC7583FB-A641-472D-ADF1-A539B0ED23E8}" type="presParOf" srcId="{F2D4FE76-D6CE-417A-BE10-A2E27BD6AA26}" destId="{F06333DB-7A42-4B81-AFAF-24B91AB7E273}" srcOrd="1" destOrd="0" presId="urn:microsoft.com/office/officeart/2018/5/layout/IconLeafLabelList"/>
    <dgm:cxn modelId="{3EF62A4D-3791-4A11-86DB-3F67DA8BF987}" type="presParOf" srcId="{F2D4FE76-D6CE-417A-BE10-A2E27BD6AA26}" destId="{67651FEB-546D-4664-B61B-864A66626DD6}" srcOrd="2" destOrd="0" presId="urn:microsoft.com/office/officeart/2018/5/layout/IconLeafLabelList"/>
    <dgm:cxn modelId="{75EB2299-EB16-48B1-A79A-86FF92E76BA1}" type="presParOf" srcId="{F2D4FE76-D6CE-417A-BE10-A2E27BD6AA26}" destId="{3576F246-D0B9-4DE3-985E-3F549EAD3C02}" srcOrd="3" destOrd="0" presId="urn:microsoft.com/office/officeart/2018/5/layout/IconLeafLabelList"/>
    <dgm:cxn modelId="{DFDA8960-3C12-4721-81E6-2D9B755C553D}" type="presParOf" srcId="{B716A5BC-F87B-4D1E-81B2-833B50AB33F5}" destId="{DBF9EA0D-CE46-4EE8-A6BC-0070FB72D5B9}" srcOrd="1" destOrd="0" presId="urn:microsoft.com/office/officeart/2018/5/layout/IconLeafLabelList"/>
    <dgm:cxn modelId="{D1602DF5-C079-47BB-801A-F9112C77EE88}" type="presParOf" srcId="{B716A5BC-F87B-4D1E-81B2-833B50AB33F5}" destId="{FABE7641-67F1-499A-9F35-FD821EAEE226}" srcOrd="2" destOrd="0" presId="urn:microsoft.com/office/officeart/2018/5/layout/IconLeafLabelList"/>
    <dgm:cxn modelId="{9DAE7F01-9E7D-41C6-A6AE-9EF66596A19C}" type="presParOf" srcId="{FABE7641-67F1-499A-9F35-FD821EAEE226}" destId="{CAEE0DB4-00DF-4B0D-A82F-5963F8A834EE}" srcOrd="0" destOrd="0" presId="urn:microsoft.com/office/officeart/2018/5/layout/IconLeafLabelList"/>
    <dgm:cxn modelId="{A19CF595-1E95-4BD4-B6F2-62E90149ADE2}" type="presParOf" srcId="{FABE7641-67F1-499A-9F35-FD821EAEE226}" destId="{4BA6CC15-384F-42AD-967B-EFCD7364E4D8}" srcOrd="1" destOrd="0" presId="urn:microsoft.com/office/officeart/2018/5/layout/IconLeafLabelList"/>
    <dgm:cxn modelId="{971C2291-C86F-4CFA-A024-8930EEB5B822}" type="presParOf" srcId="{FABE7641-67F1-499A-9F35-FD821EAEE226}" destId="{334CECBC-04F6-4199-8369-571338A94E17}" srcOrd="2" destOrd="0" presId="urn:microsoft.com/office/officeart/2018/5/layout/IconLeafLabelList"/>
    <dgm:cxn modelId="{DFD85EC8-B287-4577-AE34-2A60895AA4A5}" type="presParOf" srcId="{FABE7641-67F1-499A-9F35-FD821EAEE226}" destId="{E6BD5C32-7397-4245-974E-8CD6ABB4EB95}" srcOrd="3" destOrd="0" presId="urn:microsoft.com/office/officeart/2018/5/layout/IconLeafLabelList"/>
    <dgm:cxn modelId="{2525D831-60D1-4F50-ACD0-4CE07D636A3A}" type="presParOf" srcId="{B716A5BC-F87B-4D1E-81B2-833B50AB33F5}" destId="{CDCDD122-E37F-44AB-9626-3187AD7015F6}" srcOrd="3" destOrd="0" presId="urn:microsoft.com/office/officeart/2018/5/layout/IconLeafLabelList"/>
    <dgm:cxn modelId="{9F886FF4-84A2-4948-8464-FAC8859FB856}" type="presParOf" srcId="{B716A5BC-F87B-4D1E-81B2-833B50AB33F5}" destId="{7636D130-D196-405E-9449-FD758846EC25}" srcOrd="4" destOrd="0" presId="urn:microsoft.com/office/officeart/2018/5/layout/IconLeafLabelList"/>
    <dgm:cxn modelId="{48DA6295-91B4-4F62-BD09-02A31BC6EBDF}" type="presParOf" srcId="{7636D130-D196-405E-9449-FD758846EC25}" destId="{DC3AB925-3F3D-4ADB-ABDB-26A16B3A3900}" srcOrd="0" destOrd="0" presId="urn:microsoft.com/office/officeart/2018/5/layout/IconLeafLabelList"/>
    <dgm:cxn modelId="{273DAFC9-D8FE-4771-BA2B-3C09C465659A}" type="presParOf" srcId="{7636D130-D196-405E-9449-FD758846EC25}" destId="{30BE09F6-D3B8-408F-B296-957F79CBC041}" srcOrd="1" destOrd="0" presId="urn:microsoft.com/office/officeart/2018/5/layout/IconLeafLabelList"/>
    <dgm:cxn modelId="{3E411199-344A-439A-AE85-36D7DF218C9F}" type="presParOf" srcId="{7636D130-D196-405E-9449-FD758846EC25}" destId="{E9263508-DF31-4086-95A9-48E629689A65}" srcOrd="2" destOrd="0" presId="urn:microsoft.com/office/officeart/2018/5/layout/IconLeafLabelList"/>
    <dgm:cxn modelId="{C9606452-9158-4B52-B7AD-63E4AE36506E}" type="presParOf" srcId="{7636D130-D196-405E-9449-FD758846EC25}" destId="{11359FED-E125-468D-ACC5-95DCB3581EBE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1559D39-50DF-44C6-B97D-BB3D393B66AF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3DF5A1C5-E951-4E09-B8D5-9A1275BBD273}">
      <dgm:prSet/>
      <dgm:spPr/>
      <dgm:t>
        <a:bodyPr/>
        <a:lstStyle/>
        <a:p>
          <a:r>
            <a:rPr lang="en-US"/>
            <a:t>A Busca Local apresentou desempenho competitivo com o VNS em várias instâncias pequenas e médias.</a:t>
          </a:r>
        </a:p>
      </dgm:t>
    </dgm:pt>
    <dgm:pt modelId="{E50D858C-2F6F-4047-B15A-049D2326DFEA}" type="parTrans" cxnId="{E6308B2E-6FD2-4AB2-B924-CED864C07607}">
      <dgm:prSet/>
      <dgm:spPr/>
      <dgm:t>
        <a:bodyPr/>
        <a:lstStyle/>
        <a:p>
          <a:endParaRPr lang="en-US"/>
        </a:p>
      </dgm:t>
    </dgm:pt>
    <dgm:pt modelId="{9D4E03E2-BD93-484D-A40C-504C33D63EE1}" type="sibTrans" cxnId="{E6308B2E-6FD2-4AB2-B924-CED864C07607}">
      <dgm:prSet/>
      <dgm:spPr/>
      <dgm:t>
        <a:bodyPr/>
        <a:lstStyle/>
        <a:p>
          <a:endParaRPr lang="en-US"/>
        </a:p>
      </dgm:t>
    </dgm:pt>
    <dgm:pt modelId="{E1F72D95-6807-49FA-AD87-5C0055B65D90}">
      <dgm:prSet/>
      <dgm:spPr/>
      <dgm:t>
        <a:bodyPr/>
        <a:lstStyle/>
        <a:p>
          <a:r>
            <a:rPr lang="en-US"/>
            <a:t>Para instâncias maiores, o GAP tende a crescer, revelando limitações no poder de exploração do Descent.</a:t>
          </a:r>
        </a:p>
      </dgm:t>
    </dgm:pt>
    <dgm:pt modelId="{0B963E87-0448-4797-89F3-9F11CF3A4107}" type="parTrans" cxnId="{63D97B12-3C9C-4211-8324-24177C7BCDA1}">
      <dgm:prSet/>
      <dgm:spPr/>
      <dgm:t>
        <a:bodyPr/>
        <a:lstStyle/>
        <a:p>
          <a:endParaRPr lang="en-US"/>
        </a:p>
      </dgm:t>
    </dgm:pt>
    <dgm:pt modelId="{44D48C8D-6E64-47C1-B92A-AE3E056DBD5A}" type="sibTrans" cxnId="{63D97B12-3C9C-4211-8324-24177C7BCDA1}">
      <dgm:prSet/>
      <dgm:spPr/>
      <dgm:t>
        <a:bodyPr/>
        <a:lstStyle/>
        <a:p>
          <a:endParaRPr lang="en-US"/>
        </a:p>
      </dgm:t>
    </dgm:pt>
    <dgm:pt modelId="{059BBFC8-EC97-4BC0-BD22-F70F258BD494}">
      <dgm:prSet/>
      <dgm:spPr/>
      <dgm:t>
        <a:bodyPr/>
        <a:lstStyle/>
        <a:p>
          <a:r>
            <a:rPr lang="en-US"/>
            <a:t>O tempo de execução foi limitado a 150 segundos por instância, o que afeta diretamente os resultados.</a:t>
          </a:r>
        </a:p>
      </dgm:t>
    </dgm:pt>
    <dgm:pt modelId="{047D8286-5F76-4DC4-961B-58A928A61531}" type="parTrans" cxnId="{15997BC6-A19B-4628-9905-E358CCDCE5A2}">
      <dgm:prSet/>
      <dgm:spPr/>
      <dgm:t>
        <a:bodyPr/>
        <a:lstStyle/>
        <a:p>
          <a:endParaRPr lang="en-US"/>
        </a:p>
      </dgm:t>
    </dgm:pt>
    <dgm:pt modelId="{E82E9B10-7A2B-449D-8904-5F17738613BF}" type="sibTrans" cxnId="{15997BC6-A19B-4628-9905-E358CCDCE5A2}">
      <dgm:prSet/>
      <dgm:spPr/>
      <dgm:t>
        <a:bodyPr/>
        <a:lstStyle/>
        <a:p>
          <a:endParaRPr lang="en-US"/>
        </a:p>
      </dgm:t>
    </dgm:pt>
    <dgm:pt modelId="{AD9E4B9C-FBCB-4C18-B79B-AC7E7A6AED41}" type="pres">
      <dgm:prSet presAssocID="{01559D39-50DF-44C6-B97D-BB3D393B66AF}" presName="outerComposite" presStyleCnt="0">
        <dgm:presLayoutVars>
          <dgm:chMax val="5"/>
          <dgm:dir/>
          <dgm:resizeHandles val="exact"/>
        </dgm:presLayoutVars>
      </dgm:prSet>
      <dgm:spPr/>
    </dgm:pt>
    <dgm:pt modelId="{8B25339A-64E6-447A-9BE3-AD01B74B27BB}" type="pres">
      <dgm:prSet presAssocID="{01559D39-50DF-44C6-B97D-BB3D393B66AF}" presName="dummyMaxCanvas" presStyleCnt="0">
        <dgm:presLayoutVars/>
      </dgm:prSet>
      <dgm:spPr/>
    </dgm:pt>
    <dgm:pt modelId="{BC878DED-19B0-4821-8D18-82501343FBBA}" type="pres">
      <dgm:prSet presAssocID="{01559D39-50DF-44C6-B97D-BB3D393B66AF}" presName="ThreeNodes_1" presStyleLbl="node1" presStyleIdx="0" presStyleCnt="3">
        <dgm:presLayoutVars>
          <dgm:bulletEnabled val="1"/>
        </dgm:presLayoutVars>
      </dgm:prSet>
      <dgm:spPr/>
    </dgm:pt>
    <dgm:pt modelId="{E09D292C-3741-49DB-81EB-698AD94046DE}" type="pres">
      <dgm:prSet presAssocID="{01559D39-50DF-44C6-B97D-BB3D393B66AF}" presName="ThreeNodes_2" presStyleLbl="node1" presStyleIdx="1" presStyleCnt="3">
        <dgm:presLayoutVars>
          <dgm:bulletEnabled val="1"/>
        </dgm:presLayoutVars>
      </dgm:prSet>
      <dgm:spPr/>
    </dgm:pt>
    <dgm:pt modelId="{C66B546E-6364-4B97-8B1B-5475D74E7636}" type="pres">
      <dgm:prSet presAssocID="{01559D39-50DF-44C6-B97D-BB3D393B66AF}" presName="ThreeNodes_3" presStyleLbl="node1" presStyleIdx="2" presStyleCnt="3">
        <dgm:presLayoutVars>
          <dgm:bulletEnabled val="1"/>
        </dgm:presLayoutVars>
      </dgm:prSet>
      <dgm:spPr/>
    </dgm:pt>
    <dgm:pt modelId="{6925FF73-C00D-487D-94AD-C12D0E812BA9}" type="pres">
      <dgm:prSet presAssocID="{01559D39-50DF-44C6-B97D-BB3D393B66AF}" presName="ThreeConn_1-2" presStyleLbl="fgAccFollowNode1" presStyleIdx="0" presStyleCnt="2">
        <dgm:presLayoutVars>
          <dgm:bulletEnabled val="1"/>
        </dgm:presLayoutVars>
      </dgm:prSet>
      <dgm:spPr/>
    </dgm:pt>
    <dgm:pt modelId="{FF0CF14F-600E-4A8A-A683-B61CAD76DAA1}" type="pres">
      <dgm:prSet presAssocID="{01559D39-50DF-44C6-B97D-BB3D393B66AF}" presName="ThreeConn_2-3" presStyleLbl="fgAccFollowNode1" presStyleIdx="1" presStyleCnt="2">
        <dgm:presLayoutVars>
          <dgm:bulletEnabled val="1"/>
        </dgm:presLayoutVars>
      </dgm:prSet>
      <dgm:spPr/>
    </dgm:pt>
    <dgm:pt modelId="{9B213C64-C098-48ED-83F7-3EBF9E93C404}" type="pres">
      <dgm:prSet presAssocID="{01559D39-50DF-44C6-B97D-BB3D393B66AF}" presName="ThreeNodes_1_text" presStyleLbl="node1" presStyleIdx="2" presStyleCnt="3">
        <dgm:presLayoutVars>
          <dgm:bulletEnabled val="1"/>
        </dgm:presLayoutVars>
      </dgm:prSet>
      <dgm:spPr/>
    </dgm:pt>
    <dgm:pt modelId="{79BEBB22-D219-4445-B711-EAEDAB787CFD}" type="pres">
      <dgm:prSet presAssocID="{01559D39-50DF-44C6-B97D-BB3D393B66AF}" presName="ThreeNodes_2_text" presStyleLbl="node1" presStyleIdx="2" presStyleCnt="3">
        <dgm:presLayoutVars>
          <dgm:bulletEnabled val="1"/>
        </dgm:presLayoutVars>
      </dgm:prSet>
      <dgm:spPr/>
    </dgm:pt>
    <dgm:pt modelId="{5BF379FC-D9EB-48DF-A98B-2FE4E3D74944}" type="pres">
      <dgm:prSet presAssocID="{01559D39-50DF-44C6-B97D-BB3D393B66AF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EB265806-DED8-4188-8133-42D42F6A4DEA}" type="presOf" srcId="{059BBFC8-EC97-4BC0-BD22-F70F258BD494}" destId="{C66B546E-6364-4B97-8B1B-5475D74E7636}" srcOrd="0" destOrd="0" presId="urn:microsoft.com/office/officeart/2005/8/layout/vProcess5"/>
    <dgm:cxn modelId="{63D97B12-3C9C-4211-8324-24177C7BCDA1}" srcId="{01559D39-50DF-44C6-B97D-BB3D393B66AF}" destId="{E1F72D95-6807-49FA-AD87-5C0055B65D90}" srcOrd="1" destOrd="0" parTransId="{0B963E87-0448-4797-89F3-9F11CF3A4107}" sibTransId="{44D48C8D-6E64-47C1-B92A-AE3E056DBD5A}"/>
    <dgm:cxn modelId="{0310C519-A922-42EB-BCE1-511799A897C4}" type="presOf" srcId="{E1F72D95-6807-49FA-AD87-5C0055B65D90}" destId="{E09D292C-3741-49DB-81EB-698AD94046DE}" srcOrd="0" destOrd="0" presId="urn:microsoft.com/office/officeart/2005/8/layout/vProcess5"/>
    <dgm:cxn modelId="{EC100F26-F783-47A4-B862-D4DC7A009196}" type="presOf" srcId="{3DF5A1C5-E951-4E09-B8D5-9A1275BBD273}" destId="{BC878DED-19B0-4821-8D18-82501343FBBA}" srcOrd="0" destOrd="0" presId="urn:microsoft.com/office/officeart/2005/8/layout/vProcess5"/>
    <dgm:cxn modelId="{E6308B2E-6FD2-4AB2-B924-CED864C07607}" srcId="{01559D39-50DF-44C6-B97D-BB3D393B66AF}" destId="{3DF5A1C5-E951-4E09-B8D5-9A1275BBD273}" srcOrd="0" destOrd="0" parTransId="{E50D858C-2F6F-4047-B15A-049D2326DFEA}" sibTransId="{9D4E03E2-BD93-484D-A40C-504C33D63EE1}"/>
    <dgm:cxn modelId="{058CFB3E-27E2-48BA-9F93-6CE165F80667}" type="presOf" srcId="{E1F72D95-6807-49FA-AD87-5C0055B65D90}" destId="{79BEBB22-D219-4445-B711-EAEDAB787CFD}" srcOrd="1" destOrd="0" presId="urn:microsoft.com/office/officeart/2005/8/layout/vProcess5"/>
    <dgm:cxn modelId="{26063751-7EFA-4491-8AD2-5D2709DF482D}" type="presOf" srcId="{44D48C8D-6E64-47C1-B92A-AE3E056DBD5A}" destId="{FF0CF14F-600E-4A8A-A683-B61CAD76DAA1}" srcOrd="0" destOrd="0" presId="urn:microsoft.com/office/officeart/2005/8/layout/vProcess5"/>
    <dgm:cxn modelId="{3E9C2882-6BD4-4CB2-BDCE-073FAE7401BB}" type="presOf" srcId="{01559D39-50DF-44C6-B97D-BB3D393B66AF}" destId="{AD9E4B9C-FBCB-4C18-B79B-AC7E7A6AED41}" srcOrd="0" destOrd="0" presId="urn:microsoft.com/office/officeart/2005/8/layout/vProcess5"/>
    <dgm:cxn modelId="{15997BC6-A19B-4628-9905-E358CCDCE5A2}" srcId="{01559D39-50DF-44C6-B97D-BB3D393B66AF}" destId="{059BBFC8-EC97-4BC0-BD22-F70F258BD494}" srcOrd="2" destOrd="0" parTransId="{047D8286-5F76-4DC4-961B-58A928A61531}" sibTransId="{E82E9B10-7A2B-449D-8904-5F17738613BF}"/>
    <dgm:cxn modelId="{DA2AE8C6-E866-41B1-BE1A-4937DC479211}" type="presOf" srcId="{059BBFC8-EC97-4BC0-BD22-F70F258BD494}" destId="{5BF379FC-D9EB-48DF-A98B-2FE4E3D74944}" srcOrd="1" destOrd="0" presId="urn:microsoft.com/office/officeart/2005/8/layout/vProcess5"/>
    <dgm:cxn modelId="{9DC623E6-549C-441A-AF24-6E97A06DAA47}" type="presOf" srcId="{9D4E03E2-BD93-484D-A40C-504C33D63EE1}" destId="{6925FF73-C00D-487D-94AD-C12D0E812BA9}" srcOrd="0" destOrd="0" presId="urn:microsoft.com/office/officeart/2005/8/layout/vProcess5"/>
    <dgm:cxn modelId="{2E6B61FA-05F3-463F-AA68-2BEEEDB9D870}" type="presOf" srcId="{3DF5A1C5-E951-4E09-B8D5-9A1275BBD273}" destId="{9B213C64-C098-48ED-83F7-3EBF9E93C404}" srcOrd="1" destOrd="0" presId="urn:microsoft.com/office/officeart/2005/8/layout/vProcess5"/>
    <dgm:cxn modelId="{73F365EE-AE11-48E8-A0C0-646A382D7D86}" type="presParOf" srcId="{AD9E4B9C-FBCB-4C18-B79B-AC7E7A6AED41}" destId="{8B25339A-64E6-447A-9BE3-AD01B74B27BB}" srcOrd="0" destOrd="0" presId="urn:microsoft.com/office/officeart/2005/8/layout/vProcess5"/>
    <dgm:cxn modelId="{7E1059E4-EBAE-45CB-8067-3BCCB3586EA1}" type="presParOf" srcId="{AD9E4B9C-FBCB-4C18-B79B-AC7E7A6AED41}" destId="{BC878DED-19B0-4821-8D18-82501343FBBA}" srcOrd="1" destOrd="0" presId="urn:microsoft.com/office/officeart/2005/8/layout/vProcess5"/>
    <dgm:cxn modelId="{F6713166-1DE3-48E7-82A9-78CF38918817}" type="presParOf" srcId="{AD9E4B9C-FBCB-4C18-B79B-AC7E7A6AED41}" destId="{E09D292C-3741-49DB-81EB-698AD94046DE}" srcOrd="2" destOrd="0" presId="urn:microsoft.com/office/officeart/2005/8/layout/vProcess5"/>
    <dgm:cxn modelId="{3FE6A913-0724-41AD-90AA-CB8AFD31B0D0}" type="presParOf" srcId="{AD9E4B9C-FBCB-4C18-B79B-AC7E7A6AED41}" destId="{C66B546E-6364-4B97-8B1B-5475D74E7636}" srcOrd="3" destOrd="0" presId="urn:microsoft.com/office/officeart/2005/8/layout/vProcess5"/>
    <dgm:cxn modelId="{21BE3414-8A68-4810-8048-C28E01FB29F5}" type="presParOf" srcId="{AD9E4B9C-FBCB-4C18-B79B-AC7E7A6AED41}" destId="{6925FF73-C00D-487D-94AD-C12D0E812BA9}" srcOrd="4" destOrd="0" presId="urn:microsoft.com/office/officeart/2005/8/layout/vProcess5"/>
    <dgm:cxn modelId="{DE151DE7-F71D-41C1-95C5-D2DBBAF2CB19}" type="presParOf" srcId="{AD9E4B9C-FBCB-4C18-B79B-AC7E7A6AED41}" destId="{FF0CF14F-600E-4A8A-A683-B61CAD76DAA1}" srcOrd="5" destOrd="0" presId="urn:microsoft.com/office/officeart/2005/8/layout/vProcess5"/>
    <dgm:cxn modelId="{99CDBC36-F84D-4431-8B81-48A6E28C3A53}" type="presParOf" srcId="{AD9E4B9C-FBCB-4C18-B79B-AC7E7A6AED41}" destId="{9B213C64-C098-48ED-83F7-3EBF9E93C404}" srcOrd="6" destOrd="0" presId="urn:microsoft.com/office/officeart/2005/8/layout/vProcess5"/>
    <dgm:cxn modelId="{8C2B2365-8DB1-4F58-89FB-5A8F64DD792D}" type="presParOf" srcId="{AD9E4B9C-FBCB-4C18-B79B-AC7E7A6AED41}" destId="{79BEBB22-D219-4445-B711-EAEDAB787CFD}" srcOrd="7" destOrd="0" presId="urn:microsoft.com/office/officeart/2005/8/layout/vProcess5"/>
    <dgm:cxn modelId="{0069FD11-7777-46F0-BA3E-44C661DCFAC7}" type="presParOf" srcId="{AD9E4B9C-FBCB-4C18-B79B-AC7E7A6AED41}" destId="{5BF379FC-D9EB-48DF-A98B-2FE4E3D74944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3040A4-64E9-4DBE-8E86-2F61FE3998C4}">
      <dsp:nvSpPr>
        <dsp:cNvPr id="0" name=""/>
        <dsp:cNvSpPr/>
      </dsp:nvSpPr>
      <dsp:spPr>
        <a:xfrm>
          <a:off x="0" y="1808"/>
          <a:ext cx="7886700" cy="91661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4061E3-37A5-4E05-88D1-F2602811479F}">
      <dsp:nvSpPr>
        <dsp:cNvPr id="0" name=""/>
        <dsp:cNvSpPr/>
      </dsp:nvSpPr>
      <dsp:spPr>
        <a:xfrm>
          <a:off x="277275" y="208046"/>
          <a:ext cx="504136" cy="50413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83B643-7141-4C77-ABCB-E76C7FA740E7}">
      <dsp:nvSpPr>
        <dsp:cNvPr id="0" name=""/>
        <dsp:cNvSpPr/>
      </dsp:nvSpPr>
      <dsp:spPr>
        <a:xfrm>
          <a:off x="1058686" y="1808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O problema abordado é o Variable Sized Bin Packing Problem (VSBPP), resolvido com meta-heurísticas.</a:t>
          </a:r>
        </a:p>
      </dsp:txBody>
      <dsp:txXfrm>
        <a:off x="1058686" y="1808"/>
        <a:ext cx="6828013" cy="916611"/>
      </dsp:txXfrm>
    </dsp:sp>
    <dsp:sp modelId="{793E07A5-2553-4644-AA67-FDF03A67BDD9}">
      <dsp:nvSpPr>
        <dsp:cNvPr id="0" name=""/>
        <dsp:cNvSpPr/>
      </dsp:nvSpPr>
      <dsp:spPr>
        <a:xfrm>
          <a:off x="0" y="1147573"/>
          <a:ext cx="7886700" cy="91661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EFBCC9-A6E2-4597-ADB1-5146166D290E}">
      <dsp:nvSpPr>
        <dsp:cNvPr id="0" name=""/>
        <dsp:cNvSpPr/>
      </dsp:nvSpPr>
      <dsp:spPr>
        <a:xfrm>
          <a:off x="277275" y="1353811"/>
          <a:ext cx="504136" cy="50413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73EC4A-2E3C-4FE9-A443-429AD0D541B8}">
      <dsp:nvSpPr>
        <dsp:cNvPr id="0" name=""/>
        <dsp:cNvSpPr/>
      </dsp:nvSpPr>
      <dsp:spPr>
        <a:xfrm>
          <a:off x="1058686" y="1147573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O artigo de referência é Hemmelmayr et al. (2012), que propõe VNS (Variable Neighbourhood Search).</a:t>
          </a:r>
        </a:p>
      </dsp:txBody>
      <dsp:txXfrm>
        <a:off x="1058686" y="1147573"/>
        <a:ext cx="6828013" cy="916611"/>
      </dsp:txXfrm>
    </dsp:sp>
    <dsp:sp modelId="{764480AA-BB8E-4EE5-8B4A-4DA30F3E6CB5}">
      <dsp:nvSpPr>
        <dsp:cNvPr id="0" name=""/>
        <dsp:cNvSpPr/>
      </dsp:nvSpPr>
      <dsp:spPr>
        <a:xfrm>
          <a:off x="0" y="2293338"/>
          <a:ext cx="7886700" cy="91661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3C749D-4E4C-4772-8038-F2948DD08F2E}">
      <dsp:nvSpPr>
        <dsp:cNvPr id="0" name=""/>
        <dsp:cNvSpPr/>
      </dsp:nvSpPr>
      <dsp:spPr>
        <a:xfrm>
          <a:off x="277275" y="2499576"/>
          <a:ext cx="504136" cy="50413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46FF3A-7CF7-447F-8854-4759C94A5333}">
      <dsp:nvSpPr>
        <dsp:cNvPr id="0" name=""/>
        <dsp:cNvSpPr/>
      </dsp:nvSpPr>
      <dsp:spPr>
        <a:xfrm>
          <a:off x="1058686" y="2293338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Neste </a:t>
          </a:r>
          <a:r>
            <a:rPr lang="en-US" sz="2200" kern="1200" dirty="0" err="1"/>
            <a:t>trabalho</a:t>
          </a:r>
          <a:r>
            <a:rPr lang="en-US" sz="2200" kern="1200" dirty="0"/>
            <a:t>, </a:t>
          </a:r>
          <a:r>
            <a:rPr lang="en-US" sz="2200" kern="1200" dirty="0" err="1"/>
            <a:t>foi</a:t>
          </a:r>
          <a:r>
            <a:rPr lang="en-US" sz="2200" kern="1200" dirty="0"/>
            <a:t> </a:t>
          </a:r>
          <a:r>
            <a:rPr lang="en-US" sz="2200" kern="1200" dirty="0" err="1"/>
            <a:t>desenvolvido</a:t>
          </a:r>
          <a:r>
            <a:rPr lang="en-US" sz="2200" kern="1200" dirty="0"/>
            <a:t> um </a:t>
          </a:r>
          <a:r>
            <a:rPr lang="en-US" sz="2200" kern="1200" dirty="0" err="1"/>
            <a:t>algoritmo</a:t>
          </a:r>
          <a:r>
            <a:rPr lang="en-US" sz="2200" kern="1200" dirty="0"/>
            <a:t> de </a:t>
          </a:r>
          <a:r>
            <a:rPr lang="en-US" sz="2200" kern="1200" dirty="0" err="1"/>
            <a:t>Busca</a:t>
          </a:r>
          <a:r>
            <a:rPr lang="en-US" sz="2200" kern="1200" dirty="0"/>
            <a:t> Local Descent e Simulated </a:t>
          </a:r>
          <a:r>
            <a:rPr lang="en-US" sz="2200" kern="1200" dirty="0" err="1"/>
            <a:t>Anneling</a:t>
          </a:r>
          <a:r>
            <a:rPr lang="en-US" sz="2200" kern="1200" dirty="0"/>
            <a:t>.</a:t>
          </a:r>
        </a:p>
      </dsp:txBody>
      <dsp:txXfrm>
        <a:off x="1058686" y="2293338"/>
        <a:ext cx="6828013" cy="916611"/>
      </dsp:txXfrm>
    </dsp:sp>
    <dsp:sp modelId="{2A5F1C40-0A62-4B00-B38F-896AB165677E}">
      <dsp:nvSpPr>
        <dsp:cNvPr id="0" name=""/>
        <dsp:cNvSpPr/>
      </dsp:nvSpPr>
      <dsp:spPr>
        <a:xfrm>
          <a:off x="0" y="3439103"/>
          <a:ext cx="7886700" cy="91661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432DC4-7F09-479B-B015-58381216003B}">
      <dsp:nvSpPr>
        <dsp:cNvPr id="0" name=""/>
        <dsp:cNvSpPr/>
      </dsp:nvSpPr>
      <dsp:spPr>
        <a:xfrm>
          <a:off x="277275" y="3645341"/>
          <a:ext cx="504136" cy="50413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EB58C3-A499-4DFE-862F-2429DEAFE277}">
      <dsp:nvSpPr>
        <dsp:cNvPr id="0" name=""/>
        <dsp:cNvSpPr/>
      </dsp:nvSpPr>
      <dsp:spPr>
        <a:xfrm>
          <a:off x="1058686" y="3439103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Objetivo: Comparar o desempenho da implementação atual com os resultados reportados no artigo.</a:t>
          </a:r>
        </a:p>
      </dsp:txBody>
      <dsp:txXfrm>
        <a:off x="1058686" y="3439103"/>
        <a:ext cx="6828013" cy="91661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86C16F-73A0-43EC-8C48-D5574BD964B1}">
      <dsp:nvSpPr>
        <dsp:cNvPr id="0" name=""/>
        <dsp:cNvSpPr/>
      </dsp:nvSpPr>
      <dsp:spPr>
        <a:xfrm>
          <a:off x="530099" y="896262"/>
          <a:ext cx="1406812" cy="1406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6333DB-7A42-4B81-AFAF-24B91AB7E273}">
      <dsp:nvSpPr>
        <dsp:cNvPr id="0" name=""/>
        <dsp:cNvSpPr/>
      </dsp:nvSpPr>
      <dsp:spPr>
        <a:xfrm>
          <a:off x="829912" y="1196074"/>
          <a:ext cx="807187" cy="807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76F246-D0B9-4DE3-985E-3F549EAD3C02}">
      <dsp:nvSpPr>
        <dsp:cNvPr id="0" name=""/>
        <dsp:cNvSpPr/>
      </dsp:nvSpPr>
      <dsp:spPr>
        <a:xfrm>
          <a:off x="80381" y="2741262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A métrica utilizada para comparar os métodos foi o GAP percentual em relação ao custo ótimo conhecido:</a:t>
          </a:r>
        </a:p>
      </dsp:txBody>
      <dsp:txXfrm>
        <a:off x="80381" y="2741262"/>
        <a:ext cx="2306250" cy="720000"/>
      </dsp:txXfrm>
    </dsp:sp>
    <dsp:sp modelId="{CAEE0DB4-00DF-4B0D-A82F-5963F8A834EE}">
      <dsp:nvSpPr>
        <dsp:cNvPr id="0" name=""/>
        <dsp:cNvSpPr/>
      </dsp:nvSpPr>
      <dsp:spPr>
        <a:xfrm>
          <a:off x="3239943" y="896262"/>
          <a:ext cx="1406812" cy="1406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A6CC15-384F-42AD-967B-EFCD7364E4D8}">
      <dsp:nvSpPr>
        <dsp:cNvPr id="0" name=""/>
        <dsp:cNvSpPr/>
      </dsp:nvSpPr>
      <dsp:spPr>
        <a:xfrm>
          <a:off x="3539756" y="1196074"/>
          <a:ext cx="807187" cy="807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BD5C32-7397-4245-974E-8CD6ABB4EB95}">
      <dsp:nvSpPr>
        <dsp:cNvPr id="0" name=""/>
        <dsp:cNvSpPr/>
      </dsp:nvSpPr>
      <dsp:spPr>
        <a:xfrm>
          <a:off x="2790224" y="2741262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GAP = 100 * (CustoObtido CustoÓtimo) / CustoÓtimo</a:t>
          </a:r>
        </a:p>
      </dsp:txBody>
      <dsp:txXfrm>
        <a:off x="2790224" y="2741262"/>
        <a:ext cx="2306250" cy="720000"/>
      </dsp:txXfrm>
    </dsp:sp>
    <dsp:sp modelId="{DC3AB925-3F3D-4ADB-ABDB-26A16B3A3900}">
      <dsp:nvSpPr>
        <dsp:cNvPr id="0" name=""/>
        <dsp:cNvSpPr/>
      </dsp:nvSpPr>
      <dsp:spPr>
        <a:xfrm>
          <a:off x="5949787" y="896262"/>
          <a:ext cx="1406812" cy="1406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BE09F6-D3B8-408F-B296-957F79CBC041}">
      <dsp:nvSpPr>
        <dsp:cNvPr id="0" name=""/>
        <dsp:cNvSpPr/>
      </dsp:nvSpPr>
      <dsp:spPr>
        <a:xfrm>
          <a:off x="6249600" y="1196074"/>
          <a:ext cx="807187" cy="807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359FED-E125-468D-ACC5-95DCB3581EBE}">
      <dsp:nvSpPr>
        <dsp:cNvPr id="0" name=""/>
        <dsp:cNvSpPr/>
      </dsp:nvSpPr>
      <dsp:spPr>
        <a:xfrm>
          <a:off x="5500068" y="2741262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Fontes dos ótimos: Tabelas 5, 6 e 7 do artigo.</a:t>
          </a:r>
        </a:p>
      </dsp:txBody>
      <dsp:txXfrm>
        <a:off x="5500068" y="2741262"/>
        <a:ext cx="230625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878DED-19B0-4821-8D18-82501343FBBA}">
      <dsp:nvSpPr>
        <dsp:cNvPr id="0" name=""/>
        <dsp:cNvSpPr/>
      </dsp:nvSpPr>
      <dsp:spPr>
        <a:xfrm>
          <a:off x="0" y="0"/>
          <a:ext cx="6966490" cy="110682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 Busca Local apresentou desempenho competitivo com o VNS em várias instâncias pequenas e médias.</a:t>
          </a:r>
        </a:p>
      </dsp:txBody>
      <dsp:txXfrm>
        <a:off x="32418" y="32418"/>
        <a:ext cx="5772143" cy="1041985"/>
      </dsp:txXfrm>
    </dsp:sp>
    <dsp:sp modelId="{E09D292C-3741-49DB-81EB-698AD94046DE}">
      <dsp:nvSpPr>
        <dsp:cNvPr id="0" name=""/>
        <dsp:cNvSpPr/>
      </dsp:nvSpPr>
      <dsp:spPr>
        <a:xfrm>
          <a:off x="614690" y="1291291"/>
          <a:ext cx="6966490" cy="110682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Para instâncias maiores, o GAP tende a crescer, revelando limitações no poder de exploração do Descent.</a:t>
          </a:r>
        </a:p>
      </dsp:txBody>
      <dsp:txXfrm>
        <a:off x="647108" y="1323709"/>
        <a:ext cx="5567530" cy="1041985"/>
      </dsp:txXfrm>
    </dsp:sp>
    <dsp:sp modelId="{C66B546E-6364-4B97-8B1B-5475D74E7636}">
      <dsp:nvSpPr>
        <dsp:cNvPr id="0" name=""/>
        <dsp:cNvSpPr/>
      </dsp:nvSpPr>
      <dsp:spPr>
        <a:xfrm>
          <a:off x="1229380" y="2582583"/>
          <a:ext cx="6966490" cy="110682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O tempo de execução foi limitado a 150 segundos por instância, o que afeta diretamente os resultados.</a:t>
          </a:r>
        </a:p>
      </dsp:txBody>
      <dsp:txXfrm>
        <a:off x="1261798" y="2615001"/>
        <a:ext cx="5567530" cy="1041985"/>
      </dsp:txXfrm>
    </dsp:sp>
    <dsp:sp modelId="{6925FF73-C00D-487D-94AD-C12D0E812BA9}">
      <dsp:nvSpPr>
        <dsp:cNvPr id="0" name=""/>
        <dsp:cNvSpPr/>
      </dsp:nvSpPr>
      <dsp:spPr>
        <a:xfrm>
          <a:off x="6247056" y="839339"/>
          <a:ext cx="719433" cy="71943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6408928" y="839339"/>
        <a:ext cx="395689" cy="541373"/>
      </dsp:txXfrm>
    </dsp:sp>
    <dsp:sp modelId="{FF0CF14F-600E-4A8A-A683-B61CAD76DAA1}">
      <dsp:nvSpPr>
        <dsp:cNvPr id="0" name=""/>
        <dsp:cNvSpPr/>
      </dsp:nvSpPr>
      <dsp:spPr>
        <a:xfrm>
          <a:off x="6861746" y="2123252"/>
          <a:ext cx="719433" cy="719433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7023618" y="2123252"/>
        <a:ext cx="395689" cy="5413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6118" y="735106"/>
            <a:ext cx="7540322" cy="2928470"/>
          </a:xfrm>
        </p:spPr>
        <p:txBody>
          <a:bodyPr anchor="b">
            <a:normAutofit/>
          </a:bodyPr>
          <a:lstStyle/>
          <a:p>
            <a:pPr algn="l"/>
            <a:r>
              <a:rPr lang="pt-BR" sz="4200">
                <a:solidFill>
                  <a:srgbClr val="FFFFFF"/>
                </a:solidFill>
              </a:rPr>
              <a:t>Análise Experimental </a:t>
            </a:r>
            <a:br>
              <a:rPr lang="pt-BR" sz="4200">
                <a:solidFill>
                  <a:srgbClr val="FFFFFF"/>
                </a:solidFill>
              </a:rPr>
            </a:br>
            <a:r>
              <a:rPr lang="pt-BR" sz="4200">
                <a:solidFill>
                  <a:srgbClr val="FFFFFF"/>
                </a:solidFill>
              </a:rPr>
              <a:t>Busca Local /Simulated Annealing vs. VNS (Hemmelmayr et al., 2012)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13011" y="4870824"/>
            <a:ext cx="7504463" cy="1458258"/>
          </a:xfrm>
        </p:spPr>
        <p:txBody>
          <a:bodyPr anchor="ctr">
            <a:normAutofit/>
          </a:bodyPr>
          <a:lstStyle/>
          <a:p>
            <a:pPr algn="l"/>
            <a:r>
              <a:rPr lang="pt-BR" dirty="0"/>
              <a:t>PO205</a:t>
            </a:r>
            <a:r>
              <a:rPr dirty="0"/>
              <a:t> – </a:t>
            </a:r>
            <a:r>
              <a:rPr lang="pt-BR" dirty="0"/>
              <a:t>Otimização Combinatória com </a:t>
            </a:r>
            <a:r>
              <a:rPr dirty="0"/>
              <a:t>Meta-</a:t>
            </a:r>
            <a:r>
              <a:rPr dirty="0" err="1"/>
              <a:t>Heurísticas</a:t>
            </a:r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256032"/>
            <a:ext cx="7879842" cy="1014984"/>
          </a:xfrm>
        </p:spPr>
        <p:txBody>
          <a:bodyPr anchor="b">
            <a:normAutofit/>
          </a:bodyPr>
          <a:lstStyle/>
          <a:p>
            <a:r>
              <a:rPr lang="pt-BR"/>
              <a:t>Contexto da Análise</a:t>
            </a:r>
          </a:p>
        </p:txBody>
      </p:sp>
      <p:sp>
        <p:nvSpPr>
          <p:cNvPr id="22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24" name="Content Placeholder 2">
            <a:extLst>
              <a:ext uri="{FF2B5EF4-FFF2-40B4-BE49-F238E27FC236}">
                <a16:creationId xmlns:a16="http://schemas.microsoft.com/office/drawing/2014/main" id="{E2C6BA1A-C679-B068-B857-CFDAFC334C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4962578"/>
              </p:ext>
            </p:extLst>
          </p:nvPr>
        </p:nvGraphicFramePr>
        <p:xfrm>
          <a:off x="628650" y="1926266"/>
          <a:ext cx="78867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256032"/>
            <a:ext cx="7879842" cy="1014984"/>
          </a:xfrm>
        </p:spPr>
        <p:txBody>
          <a:bodyPr anchor="b">
            <a:normAutofit/>
          </a:bodyPr>
          <a:lstStyle/>
          <a:p>
            <a:r>
              <a:t>Métrica de Avaliação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687E276-DE20-827D-247F-C0F3575121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6112417"/>
              </p:ext>
            </p:extLst>
          </p:nvPr>
        </p:nvGraphicFramePr>
        <p:xfrm>
          <a:off x="628650" y="1926266"/>
          <a:ext cx="78867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Distribuição</a:t>
            </a: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dos GAPs </a:t>
            </a:r>
            <a:r>
              <a:rPr lang="en-US" sz="35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por</a:t>
            </a: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5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Método</a:t>
            </a:r>
            <a:endParaRPr lang="en-US" sz="35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 descr="Boxplot_GAPs_Atualiz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864" y="1966293"/>
            <a:ext cx="7420269" cy="44521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136277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GAPs </a:t>
            </a:r>
            <a:r>
              <a:rPr lang="en-US" sz="35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por</a:t>
            </a: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5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Instância</a:t>
            </a: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(</a:t>
            </a:r>
            <a:r>
              <a:rPr lang="en-US" sz="35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Seleção</a:t>
            </a: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5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Representativa</a:t>
            </a: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)</a:t>
            </a:r>
          </a:p>
        </p:txBody>
      </p:sp>
      <p:pic>
        <p:nvPicPr>
          <p:cNvPr id="4" name="Picture 3" descr="Barras_GAPs_Instancias_Atualiz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864" y="1966293"/>
            <a:ext cx="7420269" cy="44521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Evolução do GAP Médio por Tamanho de Instância</a:t>
            </a:r>
          </a:p>
        </p:txBody>
      </p:sp>
      <p:pic>
        <p:nvPicPr>
          <p:cNvPr id="4" name="Picture 3" descr="Linha_GAPs_por_Tamanho_Atualiz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864" y="1966293"/>
            <a:ext cx="7420269" cy="44521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AC5EE8-57E6-56EB-08BE-7C894EA4E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Distribuição</a:t>
            </a: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dos GAPs </a:t>
            </a:r>
            <a:r>
              <a:rPr lang="en-US" sz="35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médios</a:t>
            </a: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5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por</a:t>
            </a: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#Itens e </a:t>
            </a:r>
            <a:r>
              <a:rPr lang="en-US" sz="35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Função</a:t>
            </a:r>
            <a:r>
              <a:rPr lang="en-US" sz="3500" dirty="0" err="1">
                <a:solidFill>
                  <a:srgbClr val="FFFFFF"/>
                </a:solidFill>
              </a:rPr>
              <a:t>-Custo</a:t>
            </a:r>
            <a:endParaRPr lang="en-US" sz="35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Imagem 4" descr="Gráfico, Gráfico de linhas&#10;&#10;O conteúdo gerado por IA pode estar incorreto.">
            <a:extLst>
              <a:ext uri="{FF2B5EF4-FFF2-40B4-BE49-F238E27FC236}">
                <a16:creationId xmlns:a16="http://schemas.microsoft.com/office/drawing/2014/main" id="{369447F4-8F0E-1812-0DA0-4D6CD46136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687" y="1966293"/>
            <a:ext cx="7482624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320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89AB8C3-1C9C-C8FC-4D9D-9297AAEB0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pt-BR" sz="3500" dirty="0">
                <a:solidFill>
                  <a:srgbClr val="FFFFFF"/>
                </a:solidFill>
              </a:rPr>
              <a:t>Conclusões Iniciais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EBB3391F-DE45-4365-6C2C-EB7E145A57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2491540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Lupa mostrando declínio de desempenho">
            <a:extLst>
              <a:ext uri="{FF2B5EF4-FFF2-40B4-BE49-F238E27FC236}">
                <a16:creationId xmlns:a16="http://schemas.microsoft.com/office/drawing/2014/main" id="{48D574E5-CCEB-A892-6AC8-2C186BBE5D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18" r="42474" b="8573"/>
          <a:stretch/>
        </p:blipFill>
        <p:spPr>
          <a:xfrm>
            <a:off x="2642616" y="10"/>
            <a:ext cx="6501384" cy="685799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317450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468" y="1379755"/>
            <a:ext cx="4973803" cy="3204134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6000" dirty="0" err="1"/>
              <a:t>Análise</a:t>
            </a:r>
            <a:r>
              <a:rPr lang="en-US" sz="6000" dirty="0"/>
              <a:t> de </a:t>
            </a:r>
            <a:r>
              <a:rPr lang="en-US" sz="6000" dirty="0" err="1"/>
              <a:t>Convergência</a:t>
            </a:r>
            <a:endParaRPr lang="en-US" sz="60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1653" y="434802"/>
            <a:ext cx="146304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771" y="4546920"/>
            <a:ext cx="298323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t-BR" sz="3200">
                <a:solidFill>
                  <a:srgbClr val="FFFFFF"/>
                </a:solidFill>
              </a:rPr>
              <a:t>Padrões Observados nos Gráficos de Convergência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pt-BR" sz="2000" dirty="0"/>
              <a:t>⏱️ Convergência vs. Tempo Total (</a:t>
            </a:r>
            <a:r>
              <a:rPr lang="pt-BR" sz="2000" dirty="0" err="1"/>
              <a:t>ms</a:t>
            </a:r>
            <a:r>
              <a:rPr lang="pt-BR" sz="2000" dirty="0"/>
              <a:t>):</a:t>
            </a:r>
          </a:p>
          <a:p>
            <a:r>
              <a:rPr lang="pt-BR" sz="2000" dirty="0"/>
              <a:t>Instâncias pequenas convergem rapidamente (</a:t>
            </a:r>
            <a:r>
              <a:rPr lang="pt-BR" sz="2000" dirty="0" err="1"/>
              <a:t>ex</a:t>
            </a:r>
            <a:r>
              <a:rPr lang="pt-BR" sz="2000" dirty="0"/>
              <a:t>: H&amp;Sconc100-2-6).</a:t>
            </a:r>
          </a:p>
          <a:p>
            <a:r>
              <a:rPr lang="pt-BR" sz="2000" dirty="0"/>
              <a:t>Instâncias grandes requerem mais tempo para escapar de mínimos locais.</a:t>
            </a:r>
          </a:p>
          <a:p>
            <a:r>
              <a:rPr lang="pt-BR" sz="2000" dirty="0" err="1"/>
              <a:t>T_lim</a:t>
            </a:r>
            <a:r>
              <a:rPr lang="pt-BR" sz="2000" dirty="0"/>
              <a:t> = 150.000 </a:t>
            </a:r>
            <a:r>
              <a:rPr lang="pt-BR" sz="2000" dirty="0" err="1"/>
              <a:t>ms</a:t>
            </a:r>
            <a:r>
              <a:rPr lang="pt-BR" sz="2000" dirty="0"/>
              <a:t> atinge apenas estágios iniciais; </a:t>
            </a:r>
            <a:r>
              <a:rPr lang="pt-BR" sz="2000" dirty="0" err="1"/>
              <a:t>T_lim</a:t>
            </a:r>
            <a:r>
              <a:rPr lang="pt-BR" sz="2000" dirty="0"/>
              <a:t> = 9.000.000 </a:t>
            </a:r>
            <a:r>
              <a:rPr lang="pt-BR" sz="2000" dirty="0" err="1"/>
              <a:t>ms</a:t>
            </a:r>
            <a:r>
              <a:rPr lang="pt-BR" sz="2000" dirty="0"/>
              <a:t> mostra melhora contínua.</a:t>
            </a:r>
          </a:p>
          <a:p>
            <a:endParaRPr lang="pt-BR" sz="2000" dirty="0"/>
          </a:p>
          <a:p>
            <a:pPr marL="0" indent="0">
              <a:buNone/>
            </a:pPr>
            <a:r>
              <a:rPr lang="pt-BR" sz="2000" dirty="0"/>
              <a:t>🌡️ Convergência vs. Temperatura:</a:t>
            </a:r>
          </a:p>
          <a:p>
            <a:r>
              <a:rPr lang="pt-BR" sz="2000" dirty="0"/>
              <a:t>Altas temperaturas aceitam soluções piores (exploração).</a:t>
            </a:r>
          </a:p>
          <a:p>
            <a:r>
              <a:rPr lang="pt-BR" sz="2000" dirty="0"/>
              <a:t>Temperaturas baixas estabilizam soluções (intensificação).</a:t>
            </a:r>
          </a:p>
          <a:p>
            <a:r>
              <a:rPr lang="pt-BR" sz="2000" dirty="0"/>
              <a:t>Mais ciclos com </a:t>
            </a:r>
            <a:r>
              <a:rPr lang="pt-BR" sz="2000" dirty="0" err="1"/>
              <a:t>T_lim</a:t>
            </a:r>
            <a:r>
              <a:rPr lang="pt-BR" sz="2000" dirty="0"/>
              <a:t> longo =&gt; melhores soluções.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pt-BR" sz="3500" dirty="0">
                <a:solidFill>
                  <a:srgbClr val="FFFFFF"/>
                </a:solidFill>
              </a:rPr>
              <a:t>Conclusões Parciais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BR" sz="1700"/>
              <a:t>🚀 Eficiência por Tamanho da Instância:</a:t>
            </a:r>
          </a:p>
          <a:p>
            <a:r>
              <a:rPr lang="pt-BR" sz="1700"/>
              <a:t>Instâncias pequenas: tempos curtos são suficientes.</a:t>
            </a:r>
          </a:p>
          <a:p>
            <a:r>
              <a:rPr lang="pt-BR" sz="1700"/>
              <a:t>Instâncias grandes: tempo longo fundamental para qualidade.</a:t>
            </a:r>
          </a:p>
          <a:p>
            <a:endParaRPr lang="pt-BR" sz="1700"/>
          </a:p>
          <a:p>
            <a:pPr marL="0" indent="0">
              <a:buNone/>
            </a:pPr>
            <a:r>
              <a:rPr lang="pt-BR" sz="1700"/>
              <a:t>📈 Efeito do Tempo de Execução:</a:t>
            </a:r>
          </a:p>
          <a:p>
            <a:r>
              <a:rPr lang="pt-BR" sz="1700"/>
              <a:t>Ganhos significativos com mais tempo.</a:t>
            </a:r>
          </a:p>
          <a:p>
            <a:r>
              <a:rPr lang="pt-BR" sz="1700"/>
              <a:t>Diminuição dos retornos marginais após certo ponto.</a:t>
            </a:r>
          </a:p>
          <a:p>
            <a:endParaRPr lang="pt-BR" sz="1700"/>
          </a:p>
          <a:p>
            <a:pPr marL="0" indent="0">
              <a:buNone/>
            </a:pPr>
            <a:r>
              <a:rPr lang="pt-BR" sz="1700"/>
              <a:t>🔁 Temperatura como Indicador de Progresso:</a:t>
            </a:r>
          </a:p>
          <a:p>
            <a:r>
              <a:rPr lang="pt-BR" sz="1700"/>
              <a:t>Queda de custo nas primeiras iterações.</a:t>
            </a:r>
          </a:p>
          <a:p>
            <a:r>
              <a:rPr lang="pt-BR" sz="1700"/>
              <a:t>Estabilização indica fim da exploração útil.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338899" y="918266"/>
            <a:ext cx="529596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338409" y="643467"/>
            <a:ext cx="315230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78790" y="643467"/>
            <a:ext cx="8200127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 descr="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059" y="1286934"/>
            <a:ext cx="6871883" cy="410594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338899" y="918266"/>
            <a:ext cx="529596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338409" y="643467"/>
            <a:ext cx="315230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78790" y="643467"/>
            <a:ext cx="8200127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 descr="output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059" y="1286934"/>
            <a:ext cx="6871883" cy="410594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338899" y="918266"/>
            <a:ext cx="529596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338409" y="643467"/>
            <a:ext cx="315230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78790" y="643467"/>
            <a:ext cx="8200127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 descr="output (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059" y="1286934"/>
            <a:ext cx="6871883" cy="410594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338899" y="918266"/>
            <a:ext cx="529596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338409" y="643467"/>
            <a:ext cx="315230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78790" y="643467"/>
            <a:ext cx="8200127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 descr="output (3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059" y="1286934"/>
            <a:ext cx="6871883" cy="410594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338899" y="918266"/>
            <a:ext cx="529596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338409" y="643467"/>
            <a:ext cx="315230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78790" y="643467"/>
            <a:ext cx="8200127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 descr="output (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622" y="1286934"/>
            <a:ext cx="6900757" cy="410594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338899" y="918266"/>
            <a:ext cx="529596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338409" y="643467"/>
            <a:ext cx="315230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78790" y="643467"/>
            <a:ext cx="8200127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 descr="output (5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059" y="1286934"/>
            <a:ext cx="6871883" cy="410594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338899" y="918266"/>
            <a:ext cx="529596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338409" y="643467"/>
            <a:ext cx="315230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78790" y="643467"/>
            <a:ext cx="8200127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 descr="output (6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059" y="1286934"/>
            <a:ext cx="6871883" cy="410594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338899" y="918266"/>
            <a:ext cx="529596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338409" y="643467"/>
            <a:ext cx="315230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78790" y="643467"/>
            <a:ext cx="8200127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 descr="output (7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059" y="1286934"/>
            <a:ext cx="6871883" cy="410594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338899" y="918266"/>
            <a:ext cx="529596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338409" y="643467"/>
            <a:ext cx="315230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78790" y="643467"/>
            <a:ext cx="8200127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 descr="output (8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059" y="1286934"/>
            <a:ext cx="6871883" cy="410594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338899" y="918266"/>
            <a:ext cx="529596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338409" y="643467"/>
            <a:ext cx="315230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78790" y="643467"/>
            <a:ext cx="8200127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 descr="output (9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059" y="1286934"/>
            <a:ext cx="6871883" cy="410594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338899" y="918266"/>
            <a:ext cx="529596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338409" y="643467"/>
            <a:ext cx="315230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78790" y="643467"/>
            <a:ext cx="8200127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 descr="output (10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309" y="1286934"/>
            <a:ext cx="6517382" cy="410594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338899" y="918266"/>
            <a:ext cx="529596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338409" y="643467"/>
            <a:ext cx="315230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78790" y="643467"/>
            <a:ext cx="8200127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 descr="output (1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309" y="1286934"/>
            <a:ext cx="6517382" cy="410594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338899" y="918266"/>
            <a:ext cx="529596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338409" y="643467"/>
            <a:ext cx="315230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78790" y="643467"/>
            <a:ext cx="8200127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 descr="output (1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309" y="1286934"/>
            <a:ext cx="6517382" cy="410594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338899" y="918266"/>
            <a:ext cx="529596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338409" y="643467"/>
            <a:ext cx="315230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78790" y="643467"/>
            <a:ext cx="8200127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 descr="output (13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309" y="1286934"/>
            <a:ext cx="6517382" cy="410594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338899" y="918266"/>
            <a:ext cx="529596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338409" y="643467"/>
            <a:ext cx="315230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78790" y="643467"/>
            <a:ext cx="8200127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 descr="output (1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48" y="1376025"/>
            <a:ext cx="6595904" cy="4105949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338899" y="918266"/>
            <a:ext cx="529596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338409" y="643467"/>
            <a:ext cx="315230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78790" y="643467"/>
            <a:ext cx="8200127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 descr="output (15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4048" y="1286934"/>
            <a:ext cx="6595904" cy="4105949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BFAB6525-748D-397E-BD94-9E8AF60C48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8371" y="-84696"/>
            <a:ext cx="6113344" cy="704766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R="0" lvl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pt-BR" sz="1600" b="1" i="0" u="sng" strike="noStrike" cap="none" normalizeH="0" baseline="0" dirty="0" err="1">
                <a:ln>
                  <a:noFill/>
                </a:ln>
                <a:effectLst/>
              </a:rPr>
              <a:t>Desempenho</a:t>
            </a:r>
            <a:r>
              <a:rPr kumimoji="0" lang="en-US" altLang="pt-BR" sz="1600" b="1" i="0" u="sng" strike="noStrike" cap="none" normalizeH="0" baseline="0" dirty="0">
                <a:ln>
                  <a:noFill/>
                </a:ln>
                <a:effectLst/>
              </a:rPr>
              <a:t> do SA</a:t>
            </a:r>
            <a:r>
              <a:rPr kumimoji="0" lang="en-US" altLang="pt-BR" sz="1600" b="0" i="0" u="sng" strike="noStrike" cap="none" normalizeH="0" baseline="0" dirty="0">
                <a:ln>
                  <a:noFill/>
                </a:ln>
                <a:effectLst/>
              </a:rPr>
              <a:t>: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pt-BR" sz="1200" b="0" i="0" u="none" strike="noStrike" cap="none" normalizeH="0" baseline="0" dirty="0">
                <a:ln>
                  <a:noFill/>
                </a:ln>
                <a:effectLst/>
              </a:rPr>
              <a:t>O SA </a:t>
            </a:r>
            <a:r>
              <a:rPr kumimoji="0" lang="en-US" altLang="pt-BR" sz="1200" b="0" i="0" u="none" strike="noStrike" cap="none" normalizeH="0" baseline="0" dirty="0" err="1">
                <a:ln>
                  <a:noFill/>
                </a:ln>
                <a:effectLst/>
              </a:rPr>
              <a:t>apresentou</a:t>
            </a:r>
            <a:r>
              <a:rPr kumimoji="0" lang="en-US" altLang="pt-BR" sz="12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pt-BR" sz="1200" b="0" i="0" u="none" strike="noStrike" cap="none" normalizeH="0" baseline="0" dirty="0" err="1">
                <a:ln>
                  <a:noFill/>
                </a:ln>
                <a:effectLst/>
              </a:rPr>
              <a:t>significativa</a:t>
            </a:r>
            <a:r>
              <a:rPr kumimoji="0" lang="en-US" altLang="pt-BR" sz="12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pt-BR" sz="1200" b="1" i="0" u="none" strike="noStrike" cap="none" normalizeH="0" baseline="0" dirty="0" err="1">
                <a:ln>
                  <a:noFill/>
                </a:ln>
                <a:effectLst/>
              </a:rPr>
              <a:t>redução</a:t>
            </a:r>
            <a:r>
              <a:rPr kumimoji="0" lang="en-US" altLang="pt-BR" sz="1200" b="1" i="0" u="none" strike="noStrike" cap="none" normalizeH="0" baseline="0" dirty="0">
                <a:ln>
                  <a:noFill/>
                </a:ln>
                <a:effectLst/>
              </a:rPr>
              <a:t> de </a:t>
            </a:r>
            <a:r>
              <a:rPr kumimoji="0" lang="en-US" altLang="pt-BR" sz="1200" b="1" i="0" u="none" strike="noStrike" cap="none" normalizeH="0" baseline="0" dirty="0" err="1">
                <a:ln>
                  <a:noFill/>
                </a:ln>
                <a:effectLst/>
              </a:rPr>
              <a:t>custo</a:t>
            </a:r>
            <a:r>
              <a:rPr kumimoji="0" lang="en-US" altLang="pt-BR" sz="12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pt-BR" sz="1200" b="0" i="0" u="none" strike="noStrike" cap="none" normalizeH="0" baseline="0" dirty="0" err="1">
                <a:ln>
                  <a:noFill/>
                </a:ln>
                <a:effectLst/>
              </a:rPr>
              <a:t>em</a:t>
            </a:r>
            <a:r>
              <a:rPr kumimoji="0" lang="en-US" altLang="pt-BR" sz="12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pt-BR" sz="1200" b="0" i="0" u="none" strike="noStrike" cap="none" normalizeH="0" baseline="0" dirty="0" err="1">
                <a:ln>
                  <a:noFill/>
                </a:ln>
                <a:effectLst/>
              </a:rPr>
              <a:t>todas</a:t>
            </a:r>
            <a:r>
              <a:rPr kumimoji="0" lang="en-US" altLang="pt-BR" sz="1200" b="0" i="0" u="none" strike="noStrike" cap="none" normalizeH="0" baseline="0" dirty="0">
                <a:ln>
                  <a:noFill/>
                </a:ln>
                <a:effectLst/>
              </a:rPr>
              <a:t> as </a:t>
            </a:r>
            <a:r>
              <a:rPr kumimoji="0" lang="en-US" altLang="pt-BR" sz="1200" b="0" i="0" u="none" strike="noStrike" cap="none" normalizeH="0" baseline="0" dirty="0" err="1">
                <a:ln>
                  <a:noFill/>
                </a:ln>
                <a:effectLst/>
              </a:rPr>
              <a:t>instâncias</a:t>
            </a:r>
            <a:r>
              <a:rPr kumimoji="0" lang="en-US" altLang="pt-BR" sz="12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pt-BR" sz="1200" b="0" i="0" u="none" strike="noStrike" cap="none" normalizeH="0" baseline="0" dirty="0" err="1">
                <a:ln>
                  <a:noFill/>
                </a:ln>
                <a:effectLst/>
              </a:rPr>
              <a:t>testadas</a:t>
            </a:r>
            <a:r>
              <a:rPr kumimoji="0" lang="en-US" altLang="pt-BR" sz="12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pt-BR" sz="1200" b="0" i="0" u="none" strike="noStrike" cap="none" normalizeH="0" baseline="0" dirty="0">
                <a:ln>
                  <a:noFill/>
                </a:ln>
                <a:effectLst/>
              </a:rPr>
              <a:t>As </a:t>
            </a:r>
            <a:r>
              <a:rPr kumimoji="0" lang="en-US" altLang="pt-BR" sz="1200" b="0" i="0" u="none" strike="noStrike" cap="none" normalizeH="0" baseline="0" dirty="0" err="1">
                <a:ln>
                  <a:noFill/>
                </a:ln>
                <a:effectLst/>
              </a:rPr>
              <a:t>maiores</a:t>
            </a:r>
            <a:r>
              <a:rPr kumimoji="0" lang="en-US" altLang="pt-BR" sz="12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pt-BR" sz="1200" b="0" i="0" u="none" strike="noStrike" cap="none" normalizeH="0" baseline="0" dirty="0" err="1">
                <a:ln>
                  <a:noFill/>
                </a:ln>
                <a:effectLst/>
              </a:rPr>
              <a:t>reduções</a:t>
            </a:r>
            <a:r>
              <a:rPr kumimoji="0" lang="en-US" altLang="pt-BR" sz="12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pt-BR" sz="1200" b="0" i="0" u="none" strike="noStrike" cap="none" normalizeH="0" baseline="0" dirty="0" err="1">
                <a:ln>
                  <a:noFill/>
                </a:ln>
                <a:effectLst/>
              </a:rPr>
              <a:t>absolutas</a:t>
            </a:r>
            <a:r>
              <a:rPr kumimoji="0" lang="en-US" altLang="pt-BR" sz="12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pt-BR" sz="1200" b="0" i="0" u="none" strike="noStrike" cap="none" normalizeH="0" baseline="0" dirty="0" err="1">
                <a:ln>
                  <a:noFill/>
                </a:ln>
                <a:effectLst/>
              </a:rPr>
              <a:t>ocorreram</a:t>
            </a:r>
            <a:r>
              <a:rPr kumimoji="0" lang="en-US" altLang="pt-BR" sz="12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pt-BR" sz="1200" b="0" i="0" u="none" strike="noStrike" cap="none" normalizeH="0" baseline="0" dirty="0" err="1">
                <a:ln>
                  <a:noFill/>
                </a:ln>
                <a:effectLst/>
              </a:rPr>
              <a:t>nas</a:t>
            </a:r>
            <a:r>
              <a:rPr kumimoji="0" lang="en-US" altLang="pt-BR" sz="12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pt-BR" sz="1200" b="0" i="0" u="none" strike="noStrike" cap="none" normalizeH="0" baseline="0" dirty="0" err="1">
                <a:ln>
                  <a:noFill/>
                </a:ln>
                <a:effectLst/>
              </a:rPr>
              <a:t>instâncias</a:t>
            </a:r>
            <a:r>
              <a:rPr kumimoji="0" lang="en-US" altLang="pt-BR" sz="1200" b="0" i="0" u="none" strike="noStrike" cap="none" normalizeH="0" baseline="0" dirty="0">
                <a:ln>
                  <a:noFill/>
                </a:ln>
                <a:effectLst/>
              </a:rPr>
              <a:t> de </a:t>
            </a:r>
            <a:r>
              <a:rPr kumimoji="0" lang="en-US" altLang="pt-BR" sz="1200" b="0" i="0" u="none" strike="noStrike" cap="none" normalizeH="0" baseline="0" dirty="0" err="1">
                <a:ln>
                  <a:noFill/>
                </a:ln>
                <a:effectLst/>
              </a:rPr>
              <a:t>maior</a:t>
            </a:r>
            <a:r>
              <a:rPr kumimoji="0" lang="en-US" altLang="pt-BR" sz="12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pt-BR" sz="1200" b="0" i="0" u="none" strike="noStrike" cap="none" normalizeH="0" baseline="0" dirty="0" err="1">
                <a:ln>
                  <a:noFill/>
                </a:ln>
                <a:effectLst/>
              </a:rPr>
              <a:t>porte</a:t>
            </a:r>
            <a:r>
              <a:rPr kumimoji="0" lang="en-US" altLang="pt-BR" sz="1200" b="0" i="0" u="none" strike="noStrike" cap="none" normalizeH="0" baseline="0" dirty="0">
                <a:ln>
                  <a:noFill/>
                </a:ln>
                <a:effectLst/>
              </a:rPr>
              <a:t>, com </a:t>
            </a:r>
            <a:r>
              <a:rPr kumimoji="0" lang="en-US" altLang="pt-BR" sz="1200" b="0" i="0" u="none" strike="noStrike" cap="none" normalizeH="0" baseline="0" dirty="0" err="1">
                <a:ln>
                  <a:noFill/>
                </a:ln>
                <a:effectLst/>
              </a:rPr>
              <a:t>destaque</a:t>
            </a:r>
            <a:r>
              <a:rPr kumimoji="0" lang="en-US" altLang="pt-BR" sz="1200" b="0" i="0" u="none" strike="noStrike" cap="none" normalizeH="0" baseline="0" dirty="0">
                <a:ln>
                  <a:noFill/>
                </a:ln>
                <a:effectLst/>
              </a:rPr>
              <a:t> para: </a:t>
            </a:r>
          </a:p>
          <a:p>
            <a:pPr marL="800100" marR="0" lvl="1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pt-BR" sz="1200" b="1" i="0" u="none" strike="noStrike" cap="none" normalizeH="0" baseline="0" dirty="0">
                <a:ln>
                  <a:noFill/>
                </a:ln>
                <a:effectLst/>
              </a:rPr>
              <a:t>H&amp;Sconc2000-2-1</a:t>
            </a:r>
            <a:r>
              <a:rPr kumimoji="0" lang="en-US" altLang="pt-BR" sz="1200" b="0" i="0" u="none" strike="noStrike" cap="none" normalizeH="0" baseline="0" dirty="0">
                <a:ln>
                  <a:noFill/>
                </a:ln>
                <a:effectLst/>
              </a:rPr>
              <a:t>: </a:t>
            </a:r>
            <a:r>
              <a:rPr kumimoji="0" lang="en-US" altLang="pt-BR" sz="1200" b="0" i="0" u="none" strike="noStrike" cap="none" normalizeH="0" baseline="0" dirty="0" err="1">
                <a:ln>
                  <a:noFill/>
                </a:ln>
                <a:effectLst/>
              </a:rPr>
              <a:t>redução</a:t>
            </a:r>
            <a:r>
              <a:rPr kumimoji="0" lang="en-US" altLang="pt-BR" sz="1200" b="0" i="0" u="none" strike="noStrike" cap="none" normalizeH="0" baseline="0" dirty="0">
                <a:ln>
                  <a:noFill/>
                </a:ln>
                <a:effectLst/>
              </a:rPr>
              <a:t> de 199.864 → 181.906 (−17.958)</a:t>
            </a:r>
          </a:p>
          <a:p>
            <a:pPr marL="800100" marR="0" lvl="1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pt-BR" sz="1200" b="1" i="0" u="none" strike="noStrike" cap="none" normalizeH="0" baseline="0" dirty="0">
                <a:ln>
                  <a:noFill/>
                </a:ln>
                <a:effectLst/>
              </a:rPr>
              <a:t>H&amp;Sconc1000-2-5</a:t>
            </a:r>
            <a:r>
              <a:rPr kumimoji="0" lang="en-US" altLang="pt-BR" sz="1200" b="0" i="0" u="none" strike="noStrike" cap="none" normalizeH="0" baseline="0" dirty="0">
                <a:ln>
                  <a:noFill/>
                </a:ln>
                <a:effectLst/>
              </a:rPr>
              <a:t>: </a:t>
            </a:r>
            <a:r>
              <a:rPr kumimoji="0" lang="en-US" altLang="pt-BR" sz="1200" b="0" i="0" u="none" strike="noStrike" cap="none" normalizeH="0" baseline="0" dirty="0" err="1">
                <a:ln>
                  <a:noFill/>
                </a:ln>
                <a:effectLst/>
              </a:rPr>
              <a:t>redução</a:t>
            </a:r>
            <a:r>
              <a:rPr kumimoji="0" lang="en-US" altLang="pt-BR" sz="1200" b="0" i="0" u="none" strike="noStrike" cap="none" normalizeH="0" baseline="0" dirty="0">
                <a:ln>
                  <a:noFill/>
                </a:ln>
                <a:effectLst/>
              </a:rPr>
              <a:t> de 100.701 → 86.155 (−14.546)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pt-BR" sz="1200" b="1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pt-BR" sz="1200" b="1" i="0" u="none" strike="noStrike" cap="none" normalizeH="0" baseline="0" dirty="0">
              <a:ln>
                <a:noFill/>
              </a:ln>
              <a:effectLst/>
            </a:endParaRPr>
          </a:p>
          <a:p>
            <a:pPr marR="0" lvl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pt-BR" sz="1600" b="1" i="0" u="sng" strike="noStrike" cap="none" normalizeH="0" baseline="0" dirty="0" err="1">
                <a:ln>
                  <a:noFill/>
                </a:ln>
                <a:effectLst/>
              </a:rPr>
              <a:t>Ocupação</a:t>
            </a:r>
            <a:r>
              <a:rPr kumimoji="0" lang="en-US" altLang="pt-BR" sz="1600" b="1" i="0" u="sng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pt-BR" sz="1600" b="1" i="0" u="sng" strike="noStrike" cap="none" normalizeH="0" baseline="0" dirty="0" err="1">
                <a:ln>
                  <a:noFill/>
                </a:ln>
                <a:effectLst/>
              </a:rPr>
              <a:t>Média</a:t>
            </a:r>
            <a:r>
              <a:rPr kumimoji="0" lang="en-US" altLang="pt-BR" sz="1600" b="0" i="0" u="sng" strike="noStrike" cap="none" normalizeH="0" baseline="0" dirty="0">
                <a:ln>
                  <a:noFill/>
                </a:ln>
                <a:effectLst/>
              </a:rPr>
              <a:t>: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pt-BR" sz="1200" b="0" i="0" u="none" strike="noStrike" cap="none" normalizeH="0" baseline="0" dirty="0">
                <a:ln>
                  <a:noFill/>
                </a:ln>
                <a:effectLst/>
              </a:rPr>
              <a:t>Alta </a:t>
            </a:r>
            <a:r>
              <a:rPr kumimoji="0" lang="en-US" altLang="pt-BR" sz="1200" b="1" i="0" u="none" strike="noStrike" cap="none" normalizeH="0" baseline="0" dirty="0" err="1">
                <a:ln>
                  <a:noFill/>
                </a:ln>
                <a:effectLst/>
              </a:rPr>
              <a:t>eficiência</a:t>
            </a:r>
            <a:r>
              <a:rPr kumimoji="0" lang="en-US" altLang="pt-BR" sz="1200" b="1" i="0" u="none" strike="noStrike" cap="none" normalizeH="0" baseline="0" dirty="0">
                <a:ln>
                  <a:noFill/>
                </a:ln>
                <a:effectLst/>
              </a:rPr>
              <a:t> de </a:t>
            </a:r>
            <a:r>
              <a:rPr kumimoji="0" lang="en-US" altLang="pt-BR" sz="1200" b="1" i="0" u="none" strike="noStrike" cap="none" normalizeH="0" baseline="0" dirty="0" err="1">
                <a:ln>
                  <a:noFill/>
                </a:ln>
                <a:effectLst/>
              </a:rPr>
              <a:t>ocupação</a:t>
            </a:r>
            <a:r>
              <a:rPr kumimoji="0" lang="en-US" altLang="pt-BR" sz="1200" b="1" i="0" u="none" strike="noStrike" cap="none" normalizeH="0" baseline="0" dirty="0">
                <a:ln>
                  <a:noFill/>
                </a:ln>
                <a:effectLst/>
              </a:rPr>
              <a:t> dos bins</a:t>
            </a:r>
            <a:r>
              <a:rPr kumimoji="0" lang="en-US" altLang="pt-BR" sz="12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pt-BR" sz="1200" b="0" i="0" u="none" strike="noStrike" cap="none" normalizeH="0" baseline="0" dirty="0" err="1">
                <a:ln>
                  <a:noFill/>
                </a:ln>
                <a:effectLst/>
              </a:rPr>
              <a:t>foi</a:t>
            </a:r>
            <a:r>
              <a:rPr kumimoji="0" lang="en-US" altLang="pt-BR" sz="12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pt-BR" sz="1200" b="0" i="0" u="none" strike="noStrike" cap="none" normalizeH="0" baseline="0" dirty="0" err="1">
                <a:ln>
                  <a:noFill/>
                </a:ln>
                <a:effectLst/>
              </a:rPr>
              <a:t>observada</a:t>
            </a:r>
            <a:r>
              <a:rPr kumimoji="0" lang="en-US" altLang="pt-BR" sz="12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pt-BR" sz="1200" b="0" i="0" u="none" strike="noStrike" cap="none" normalizeH="0" baseline="0" dirty="0" err="1">
                <a:ln>
                  <a:noFill/>
                </a:ln>
                <a:effectLst/>
              </a:rPr>
              <a:t>mesmo</a:t>
            </a:r>
            <a:r>
              <a:rPr kumimoji="0" lang="en-US" altLang="pt-BR" sz="12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pt-BR" sz="1200" b="0" i="0" u="none" strike="noStrike" cap="none" normalizeH="0" baseline="0" dirty="0" err="1">
                <a:ln>
                  <a:noFill/>
                </a:ln>
                <a:effectLst/>
              </a:rPr>
              <a:t>em</a:t>
            </a:r>
            <a:r>
              <a:rPr kumimoji="0" lang="en-US" altLang="pt-BR" sz="12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pt-BR" sz="1200" b="0" i="0" u="none" strike="noStrike" cap="none" normalizeH="0" baseline="0" dirty="0" err="1">
                <a:ln>
                  <a:noFill/>
                </a:ln>
                <a:effectLst/>
              </a:rPr>
              <a:t>instâncias</a:t>
            </a:r>
            <a:r>
              <a:rPr kumimoji="0" lang="en-US" altLang="pt-BR" sz="12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pt-BR" sz="1200" b="0" i="0" u="none" strike="noStrike" cap="none" normalizeH="0" baseline="0" dirty="0" err="1">
                <a:ln>
                  <a:noFill/>
                </a:ln>
                <a:effectLst/>
              </a:rPr>
              <a:t>grandes</a:t>
            </a:r>
            <a:r>
              <a:rPr kumimoji="0" lang="en-US" altLang="pt-BR" sz="1200" b="0" i="0" u="none" strike="noStrike" cap="none" normalizeH="0" baseline="0" dirty="0">
                <a:ln>
                  <a:noFill/>
                </a:ln>
                <a:effectLst/>
              </a:rPr>
              <a:t>:</a:t>
            </a:r>
          </a:p>
          <a:p>
            <a:pPr marL="742950" marR="0" lvl="1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pt-BR" sz="1200" b="0" i="0" u="none" strike="noStrike" cap="none" normalizeH="0" baseline="0" dirty="0" err="1">
                <a:ln>
                  <a:noFill/>
                </a:ln>
                <a:effectLst/>
              </a:rPr>
              <a:t>Variação</a:t>
            </a:r>
            <a:r>
              <a:rPr kumimoji="0" lang="en-US" altLang="pt-BR" sz="1200" b="0" i="0" u="none" strike="noStrike" cap="none" normalizeH="0" baseline="0" dirty="0">
                <a:ln>
                  <a:noFill/>
                </a:ln>
                <a:effectLst/>
              </a:rPr>
              <a:t> entre </a:t>
            </a:r>
            <a:r>
              <a:rPr kumimoji="0" lang="en-US" altLang="pt-BR" sz="1200" b="1" i="0" u="none" strike="noStrike" cap="none" normalizeH="0" baseline="0" dirty="0">
                <a:ln>
                  <a:noFill/>
                </a:ln>
                <a:effectLst/>
              </a:rPr>
              <a:t>94,71% e 95,88%</a:t>
            </a:r>
            <a:endParaRPr kumimoji="0" lang="en-US" altLang="pt-BR" sz="12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pt-BR" sz="1200" b="1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pt-BR" sz="1200" b="1" i="0" u="none" strike="noStrike" cap="none" normalizeH="0" baseline="0" dirty="0">
              <a:ln>
                <a:noFill/>
              </a:ln>
              <a:effectLst/>
            </a:endParaRPr>
          </a:p>
          <a:p>
            <a:pPr marR="0" lvl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pt-BR" sz="1600" b="1" i="0" u="sng" strike="noStrike" cap="none" normalizeH="0" baseline="0" dirty="0">
                <a:ln>
                  <a:noFill/>
                </a:ln>
                <a:effectLst/>
              </a:rPr>
              <a:t>Mecanismo de </a:t>
            </a:r>
            <a:r>
              <a:rPr kumimoji="0" lang="en-US" altLang="pt-BR" sz="1600" b="1" i="0" u="sng" strike="noStrike" cap="none" normalizeH="0" baseline="0" dirty="0" err="1">
                <a:ln>
                  <a:noFill/>
                </a:ln>
                <a:effectLst/>
              </a:rPr>
              <a:t>Aceitação</a:t>
            </a:r>
            <a:r>
              <a:rPr kumimoji="0" lang="en-US" altLang="pt-BR" sz="1600" b="0" i="0" u="sng" strike="noStrike" cap="none" normalizeH="0" baseline="0" dirty="0">
                <a:ln>
                  <a:noFill/>
                </a:ln>
                <a:effectLst/>
              </a:rPr>
              <a:t>: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pt-BR" sz="1200" b="0" i="0" u="none" strike="noStrike" cap="none" normalizeH="0" baseline="0" dirty="0">
                <a:ln>
                  <a:noFill/>
                </a:ln>
                <a:effectLst/>
              </a:rPr>
              <a:t>A </a:t>
            </a:r>
            <a:r>
              <a:rPr kumimoji="0" lang="en-US" altLang="pt-BR" sz="1200" b="0" i="0" u="none" strike="noStrike" cap="none" normalizeH="0" baseline="0" dirty="0" err="1">
                <a:ln>
                  <a:noFill/>
                </a:ln>
                <a:effectLst/>
              </a:rPr>
              <a:t>estratégia</a:t>
            </a:r>
            <a:r>
              <a:rPr kumimoji="0" lang="en-US" altLang="pt-BR" sz="1200" b="0" i="0" u="none" strike="noStrike" cap="none" normalizeH="0" baseline="0" dirty="0">
                <a:ln>
                  <a:noFill/>
                </a:ln>
                <a:effectLst/>
              </a:rPr>
              <a:t> de Metropolis </a:t>
            </a:r>
            <a:r>
              <a:rPr kumimoji="0" lang="en-US" altLang="pt-BR" sz="1200" b="0" i="0" u="none" strike="noStrike" cap="none" normalizeH="0" baseline="0" dirty="0" err="1">
                <a:ln>
                  <a:noFill/>
                </a:ln>
                <a:effectLst/>
              </a:rPr>
              <a:t>foi</a:t>
            </a:r>
            <a:r>
              <a:rPr kumimoji="0" lang="en-US" altLang="pt-BR" sz="12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pt-BR" sz="1200" b="0" i="0" u="none" strike="noStrike" cap="none" normalizeH="0" baseline="0" dirty="0" err="1">
                <a:ln>
                  <a:noFill/>
                </a:ln>
                <a:effectLst/>
              </a:rPr>
              <a:t>relevante</a:t>
            </a:r>
            <a:r>
              <a:rPr kumimoji="0" lang="en-US" altLang="pt-BR" sz="1200" b="0" i="0" u="none" strike="noStrike" cap="none" normalizeH="0" baseline="0" dirty="0">
                <a:ln>
                  <a:noFill/>
                </a:ln>
                <a:effectLst/>
              </a:rPr>
              <a:t>:</a:t>
            </a:r>
          </a:p>
          <a:p>
            <a:pPr marL="661988" lvl="2" indent="-17145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pt-BR" sz="1200" dirty="0"/>
              <a:t>Percentual </a:t>
            </a:r>
            <a:r>
              <a:rPr lang="en-US" altLang="pt-BR" sz="1200" dirty="0" err="1"/>
              <a:t>significativo</a:t>
            </a:r>
            <a:r>
              <a:rPr lang="en-US" altLang="pt-BR" sz="1200" dirty="0"/>
              <a:t> de </a:t>
            </a:r>
            <a:r>
              <a:rPr lang="en-US" altLang="pt-BR" sz="1200" dirty="0" err="1"/>
              <a:t>soluções</a:t>
            </a:r>
            <a:r>
              <a:rPr lang="en-US" altLang="pt-BR" sz="1200" dirty="0"/>
              <a:t> </a:t>
            </a:r>
            <a:r>
              <a:rPr lang="en-US" altLang="pt-BR" sz="1200" dirty="0" err="1"/>
              <a:t>piores</a:t>
            </a:r>
            <a:r>
              <a:rPr lang="en-US" altLang="pt-BR" sz="1200" dirty="0"/>
              <a:t> </a:t>
            </a:r>
            <a:r>
              <a:rPr lang="en-US" altLang="pt-BR" sz="1200" dirty="0" err="1"/>
              <a:t>aceitas:</a:t>
            </a:r>
            <a:r>
              <a:rPr kumimoji="0" lang="en-US" altLang="pt-BR" sz="1200" b="0" i="0" u="none" strike="noStrike" cap="none" normalizeH="0" baseline="0" dirty="0" err="1">
                <a:ln>
                  <a:noFill/>
                </a:ln>
                <a:effectLst/>
              </a:rPr>
              <a:t>Até</a:t>
            </a:r>
            <a:r>
              <a:rPr kumimoji="0" lang="en-US" altLang="pt-BR" sz="12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pt-BR" sz="1200" b="1" i="0" u="none" strike="noStrike" cap="none" normalizeH="0" baseline="0" dirty="0">
                <a:ln>
                  <a:noFill/>
                </a:ln>
                <a:effectLst/>
              </a:rPr>
              <a:t>~45% dos </a:t>
            </a:r>
            <a:r>
              <a:rPr kumimoji="0" lang="en-US" altLang="pt-BR" sz="1200" b="1" i="0" u="none" strike="noStrike" cap="none" normalizeH="0" baseline="0" dirty="0" err="1">
                <a:ln>
                  <a:noFill/>
                </a:ln>
                <a:effectLst/>
              </a:rPr>
              <a:t>vizinhos</a:t>
            </a:r>
            <a:r>
              <a:rPr kumimoji="0" lang="en-US" altLang="pt-BR" sz="1200" b="1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pt-BR" sz="1200" b="1" i="0" u="none" strike="noStrike" cap="none" normalizeH="0" baseline="0" dirty="0" err="1">
                <a:ln>
                  <a:noFill/>
                </a:ln>
                <a:effectLst/>
              </a:rPr>
              <a:t>aceitos</a:t>
            </a:r>
            <a:r>
              <a:rPr kumimoji="0" lang="en-US" altLang="pt-BR" sz="12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pt-BR" sz="1200" b="0" i="0" u="none" strike="noStrike" cap="none" normalizeH="0" baseline="0" dirty="0" err="1">
                <a:ln>
                  <a:noFill/>
                </a:ln>
                <a:effectLst/>
              </a:rPr>
              <a:t>em</a:t>
            </a:r>
            <a:r>
              <a:rPr kumimoji="0" lang="en-US" altLang="pt-BR" sz="12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pt-BR" sz="1200" b="0" i="0" u="none" strike="noStrike" cap="none" normalizeH="0" baseline="0" dirty="0" err="1">
                <a:ln>
                  <a:noFill/>
                </a:ln>
                <a:effectLst/>
              </a:rPr>
              <a:t>algumas</a:t>
            </a:r>
            <a:r>
              <a:rPr kumimoji="0" lang="en-US" altLang="pt-BR" sz="12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pt-BR" sz="1200" b="0" i="0" u="none" strike="noStrike" cap="none" normalizeH="0" baseline="0" dirty="0" err="1">
                <a:ln>
                  <a:noFill/>
                </a:ln>
                <a:effectLst/>
              </a:rPr>
              <a:t>instâncias</a:t>
            </a:r>
            <a:r>
              <a:rPr kumimoji="0" lang="en-US" altLang="pt-BR" sz="12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pt-BR" sz="1200" b="0" i="0" u="none" strike="noStrike" cap="none" normalizeH="0" baseline="0" dirty="0" err="1">
                <a:ln>
                  <a:noFill/>
                </a:ln>
                <a:effectLst/>
              </a:rPr>
              <a:t>foram</a:t>
            </a:r>
            <a:r>
              <a:rPr kumimoji="0" lang="en-US" altLang="pt-BR" sz="12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pt-BR" sz="1200" b="0" i="0" u="none" strike="noStrike" cap="none" normalizeH="0" baseline="0" dirty="0" err="1">
                <a:ln>
                  <a:noFill/>
                </a:ln>
                <a:effectLst/>
              </a:rPr>
              <a:t>piores</a:t>
            </a:r>
            <a:r>
              <a:rPr kumimoji="0" lang="en-US" altLang="pt-BR" sz="1200" b="0" i="0" u="none" strike="noStrike" cap="none" normalizeH="0" baseline="0" dirty="0">
                <a:ln>
                  <a:noFill/>
                </a:ln>
                <a:effectLst/>
              </a:rPr>
              <a:t> (e.g. H&amp;Sconc100-2-6)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pt-BR" sz="12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pt-BR" sz="1200" b="0" i="0" u="none" strike="noStrike" cap="none" normalizeH="0" baseline="0" dirty="0" err="1">
                <a:ln>
                  <a:noFill/>
                </a:ln>
                <a:effectLst/>
              </a:rPr>
              <a:t>Poucos</a:t>
            </a:r>
            <a:r>
              <a:rPr kumimoji="0" lang="en-US" altLang="pt-BR" sz="12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pt-BR" sz="1200" b="1" i="0" u="none" strike="noStrike" cap="none" normalizeH="0" baseline="0" dirty="0" err="1">
                <a:ln>
                  <a:noFill/>
                </a:ln>
                <a:effectLst/>
              </a:rPr>
              <a:t>vizinhos</a:t>
            </a:r>
            <a:r>
              <a:rPr kumimoji="0" lang="en-US" altLang="pt-BR" sz="1200" b="1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pt-BR" sz="1200" b="1" i="0" u="none" strike="noStrike" cap="none" normalizeH="0" baseline="0" dirty="0" err="1">
                <a:ln>
                  <a:noFill/>
                </a:ln>
                <a:effectLst/>
              </a:rPr>
              <a:t>rejeitados</a:t>
            </a:r>
            <a:r>
              <a:rPr kumimoji="0" lang="en-US" altLang="pt-BR" sz="12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pt-BR" sz="1200" b="0" i="0" u="none" strike="noStrike" cap="none" normalizeH="0" baseline="0" dirty="0" err="1">
                <a:ln>
                  <a:noFill/>
                </a:ln>
                <a:effectLst/>
              </a:rPr>
              <a:t>em</a:t>
            </a:r>
            <a:r>
              <a:rPr kumimoji="0" lang="en-US" altLang="pt-BR" sz="12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pt-BR" sz="1200" b="0" i="0" u="none" strike="noStrike" cap="none" normalizeH="0" baseline="0" dirty="0" err="1">
                <a:ln>
                  <a:noFill/>
                </a:ln>
                <a:effectLst/>
              </a:rPr>
              <a:t>instâncias</a:t>
            </a:r>
            <a:r>
              <a:rPr kumimoji="0" lang="en-US" altLang="pt-BR" sz="12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pt-BR" sz="1200" b="0" i="0" u="none" strike="noStrike" cap="none" normalizeH="0" baseline="0" dirty="0" err="1">
                <a:ln>
                  <a:noFill/>
                </a:ln>
                <a:effectLst/>
              </a:rPr>
              <a:t>maiores</a:t>
            </a:r>
            <a:r>
              <a:rPr kumimoji="0" lang="en-US" altLang="pt-BR" sz="12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pt-BR" sz="1200" b="0" i="0" u="none" strike="noStrike" cap="none" normalizeH="0" baseline="0" dirty="0" err="1">
                <a:ln>
                  <a:noFill/>
                </a:ln>
                <a:effectLst/>
              </a:rPr>
              <a:t>sugerem</a:t>
            </a:r>
            <a:r>
              <a:rPr kumimoji="0" lang="en-US" altLang="pt-BR" sz="1200" b="0" i="0" u="none" strike="noStrike" cap="none" normalizeH="0" baseline="0" dirty="0">
                <a:ln>
                  <a:noFill/>
                </a:ln>
                <a:effectLst/>
              </a:rPr>
              <a:t>:</a:t>
            </a:r>
          </a:p>
          <a:p>
            <a:pPr marL="742950" marR="0" lvl="1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pt-BR" sz="1200" b="0" i="0" u="none" strike="noStrike" cap="none" normalizeH="0" baseline="0" dirty="0">
                <a:ln>
                  <a:noFill/>
                </a:ln>
                <a:effectLst/>
              </a:rPr>
              <a:t>boa </a:t>
            </a:r>
            <a:r>
              <a:rPr kumimoji="0" lang="en-US" altLang="pt-BR" sz="1200" b="0" i="0" u="none" strike="noStrike" cap="none" normalizeH="0" baseline="0" dirty="0" err="1">
                <a:ln>
                  <a:noFill/>
                </a:ln>
                <a:effectLst/>
              </a:rPr>
              <a:t>escolha</a:t>
            </a:r>
            <a:r>
              <a:rPr kumimoji="0" lang="en-US" altLang="pt-BR" sz="1200" b="0" i="0" u="none" strike="noStrike" cap="none" normalizeH="0" baseline="0" dirty="0">
                <a:ln>
                  <a:noFill/>
                </a:ln>
                <a:effectLst/>
              </a:rPr>
              <a:t> de </a:t>
            </a:r>
            <a:r>
              <a:rPr kumimoji="0" lang="en-US" altLang="pt-BR" sz="1200" b="0" i="0" u="none" strike="noStrike" cap="none" normalizeH="0" baseline="0" dirty="0" err="1">
                <a:ln>
                  <a:noFill/>
                </a:ln>
                <a:effectLst/>
              </a:rPr>
              <a:t>temperatura</a:t>
            </a:r>
            <a:r>
              <a:rPr kumimoji="0" lang="en-US" altLang="pt-BR" sz="12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pt-BR" sz="1200" b="0" i="0" u="none" strike="noStrike" cap="none" normalizeH="0" baseline="0" dirty="0" err="1">
                <a:ln>
                  <a:noFill/>
                </a:ln>
                <a:effectLst/>
              </a:rPr>
              <a:t>inicial</a:t>
            </a:r>
            <a:r>
              <a:rPr kumimoji="0" lang="en-US" altLang="pt-BR" sz="1200" b="0" i="0" u="none" strike="noStrike" cap="none" normalizeH="0" baseline="0" dirty="0">
                <a:ln>
                  <a:noFill/>
                </a:ln>
                <a:effectLst/>
              </a:rPr>
              <a:t> e </a:t>
            </a:r>
            <a:r>
              <a:rPr kumimoji="0" lang="en-US" altLang="pt-BR" sz="1200" b="0" i="0" u="none" strike="noStrike" cap="none" normalizeH="0" baseline="0" dirty="0" err="1">
                <a:ln>
                  <a:noFill/>
                </a:ln>
                <a:effectLst/>
              </a:rPr>
              <a:t>fator</a:t>
            </a:r>
            <a:r>
              <a:rPr kumimoji="0" lang="en-US" altLang="pt-BR" sz="1200" b="0" i="0" u="none" strike="noStrike" cap="none" normalizeH="0" baseline="0" dirty="0">
                <a:ln>
                  <a:noFill/>
                </a:ln>
                <a:effectLst/>
              </a:rPr>
              <a:t> de </a:t>
            </a:r>
            <a:r>
              <a:rPr kumimoji="0" lang="en-US" altLang="pt-BR" sz="1200" b="0" i="0" u="none" strike="noStrike" cap="none" normalizeH="0" baseline="0" dirty="0" err="1">
                <a:ln>
                  <a:noFill/>
                </a:ln>
                <a:effectLst/>
              </a:rPr>
              <a:t>resfriamento</a:t>
            </a:r>
            <a:endParaRPr kumimoji="0" lang="en-US" altLang="pt-BR" sz="12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pt-BR" sz="1200" b="1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pt-BR" sz="1200" b="1" i="0" u="none" strike="noStrike" cap="none" normalizeH="0" baseline="0" dirty="0">
              <a:ln>
                <a:noFill/>
              </a:ln>
              <a:effectLst/>
            </a:endParaRPr>
          </a:p>
          <a:p>
            <a:pPr marR="0" lvl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pt-BR" sz="1600" b="1" i="0" u="sng" strike="noStrike" cap="none" normalizeH="0" baseline="0" dirty="0" err="1">
                <a:ln>
                  <a:noFill/>
                </a:ln>
                <a:effectLst/>
              </a:rPr>
              <a:t>Observações</a:t>
            </a:r>
            <a:r>
              <a:rPr kumimoji="0" lang="en-US" altLang="pt-BR" sz="1600" b="1" i="0" u="sng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pt-BR" sz="1600" b="1" i="0" u="sng" strike="noStrike" cap="none" normalizeH="0" baseline="0" dirty="0" err="1">
                <a:ln>
                  <a:noFill/>
                </a:ln>
                <a:effectLst/>
              </a:rPr>
              <a:t>Estratégicas</a:t>
            </a:r>
            <a:r>
              <a:rPr kumimoji="0" lang="en-US" altLang="pt-BR" sz="1600" b="0" i="0" u="sng" strike="noStrike" cap="none" normalizeH="0" baseline="0" dirty="0">
                <a:ln>
                  <a:noFill/>
                </a:ln>
                <a:effectLst/>
              </a:rPr>
              <a:t>: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pt-BR" sz="1200" b="0" i="0" u="none" strike="noStrike" cap="none" normalizeH="0" baseline="0" dirty="0">
                <a:ln>
                  <a:noFill/>
                </a:ln>
                <a:effectLst/>
              </a:rPr>
              <a:t>Em </a:t>
            </a:r>
            <a:r>
              <a:rPr kumimoji="0" lang="en-US" altLang="pt-BR" sz="1200" b="0" i="0" u="none" strike="noStrike" cap="none" normalizeH="0" baseline="0" dirty="0" err="1">
                <a:ln>
                  <a:noFill/>
                </a:ln>
                <a:effectLst/>
              </a:rPr>
              <a:t>instâncias</a:t>
            </a:r>
            <a:r>
              <a:rPr kumimoji="0" lang="en-US" altLang="pt-BR" sz="12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pt-BR" sz="1200" b="0" i="0" u="none" strike="noStrike" cap="none" normalizeH="0" baseline="0" dirty="0" err="1">
                <a:ln>
                  <a:noFill/>
                </a:ln>
                <a:effectLst/>
              </a:rPr>
              <a:t>pequenas</a:t>
            </a:r>
            <a:r>
              <a:rPr kumimoji="0" lang="en-US" altLang="pt-BR" sz="1200" b="0" i="0" u="none" strike="noStrike" cap="none" normalizeH="0" baseline="0" dirty="0">
                <a:ln>
                  <a:noFill/>
                </a:ln>
                <a:effectLst/>
              </a:rPr>
              <a:t>, o SA </a:t>
            </a:r>
            <a:r>
              <a:rPr kumimoji="0" lang="en-US" altLang="pt-BR" sz="1200" b="0" i="0" u="none" strike="noStrike" cap="none" normalizeH="0" baseline="0" dirty="0" err="1">
                <a:ln>
                  <a:noFill/>
                </a:ln>
                <a:effectLst/>
              </a:rPr>
              <a:t>rapidamente</a:t>
            </a:r>
            <a:r>
              <a:rPr kumimoji="0" lang="en-US" altLang="pt-BR" sz="1200" b="0" i="0" u="none" strike="noStrike" cap="none" normalizeH="0" baseline="0" dirty="0">
                <a:ln>
                  <a:noFill/>
                </a:ln>
                <a:effectLst/>
              </a:rPr>
              <a:t> converge e </a:t>
            </a:r>
            <a:r>
              <a:rPr kumimoji="0" lang="en-US" altLang="pt-BR" sz="1200" b="0" i="0" u="none" strike="noStrike" cap="none" normalizeH="0" baseline="0" dirty="0" err="1">
                <a:ln>
                  <a:noFill/>
                </a:ln>
                <a:effectLst/>
              </a:rPr>
              <a:t>explora</a:t>
            </a:r>
            <a:r>
              <a:rPr kumimoji="0" lang="en-US" altLang="pt-BR" sz="12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pt-BR" sz="1200" b="0" i="0" u="none" strike="noStrike" cap="none" normalizeH="0" baseline="0" dirty="0" err="1">
                <a:ln>
                  <a:noFill/>
                </a:ln>
                <a:effectLst/>
              </a:rPr>
              <a:t>melhor</a:t>
            </a:r>
            <a:r>
              <a:rPr kumimoji="0" lang="en-US" altLang="pt-BR" sz="1200" b="0" i="0" u="none" strike="noStrike" cap="none" normalizeH="0" baseline="0" dirty="0">
                <a:ln>
                  <a:noFill/>
                </a:ln>
                <a:effectLst/>
              </a:rPr>
              <a:t> o </a:t>
            </a:r>
            <a:r>
              <a:rPr kumimoji="0" lang="en-US" altLang="pt-BR" sz="1200" b="0" i="0" u="none" strike="noStrike" cap="none" normalizeH="0" baseline="0" dirty="0" err="1">
                <a:ln>
                  <a:noFill/>
                </a:ln>
                <a:effectLst/>
              </a:rPr>
              <a:t>espaço</a:t>
            </a:r>
            <a:r>
              <a:rPr kumimoji="0" lang="en-US" altLang="pt-BR" sz="1200" b="0" i="0" u="none" strike="noStrike" cap="none" normalizeH="0" baseline="0" dirty="0">
                <a:ln>
                  <a:noFill/>
                </a:ln>
                <a:effectLst/>
              </a:rPr>
              <a:t> de </a:t>
            </a:r>
            <a:r>
              <a:rPr kumimoji="0" lang="en-US" altLang="pt-BR" sz="1200" b="0" i="0" u="none" strike="noStrike" cap="none" normalizeH="0" baseline="0" dirty="0" err="1">
                <a:ln>
                  <a:noFill/>
                </a:ln>
                <a:effectLst/>
              </a:rPr>
              <a:t>busca</a:t>
            </a:r>
            <a:r>
              <a:rPr kumimoji="0" lang="en-US" altLang="pt-BR" sz="12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pt-BR" sz="1200" b="0" i="0" u="none" strike="noStrike" cap="none" normalizeH="0" baseline="0" dirty="0">
                <a:ln>
                  <a:noFill/>
                </a:ln>
                <a:effectLst/>
              </a:rPr>
              <a:t>Em </a:t>
            </a:r>
            <a:r>
              <a:rPr kumimoji="0" lang="en-US" altLang="pt-BR" sz="1200" b="0" i="0" u="none" strike="noStrike" cap="none" normalizeH="0" baseline="0" dirty="0" err="1">
                <a:ln>
                  <a:noFill/>
                </a:ln>
                <a:effectLst/>
              </a:rPr>
              <a:t>instâncias</a:t>
            </a:r>
            <a:r>
              <a:rPr kumimoji="0" lang="en-US" altLang="pt-BR" sz="12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pt-BR" sz="1200" b="0" i="0" u="none" strike="noStrike" cap="none" normalizeH="0" baseline="0" dirty="0" err="1">
                <a:ln>
                  <a:noFill/>
                </a:ln>
                <a:effectLst/>
              </a:rPr>
              <a:t>grandes</a:t>
            </a:r>
            <a:r>
              <a:rPr kumimoji="0" lang="en-US" altLang="pt-BR" sz="1200" b="0" i="0" u="none" strike="noStrike" cap="none" normalizeH="0" baseline="0" dirty="0">
                <a:ln>
                  <a:noFill/>
                </a:ln>
                <a:effectLst/>
              </a:rPr>
              <a:t>, </a:t>
            </a:r>
            <a:r>
              <a:rPr kumimoji="0" lang="en-US" altLang="pt-BR" sz="1200" b="0" i="0" u="none" strike="noStrike" cap="none" normalizeH="0" baseline="0" dirty="0" err="1">
                <a:ln>
                  <a:noFill/>
                </a:ln>
                <a:effectLst/>
              </a:rPr>
              <a:t>há</a:t>
            </a:r>
            <a:r>
              <a:rPr kumimoji="0" lang="en-US" altLang="pt-BR" sz="12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pt-BR" sz="1200" b="0" i="0" u="none" strike="noStrike" cap="none" normalizeH="0" baseline="0" dirty="0" err="1">
                <a:ln>
                  <a:noFill/>
                </a:ln>
                <a:effectLst/>
              </a:rPr>
              <a:t>indício</a:t>
            </a:r>
            <a:r>
              <a:rPr kumimoji="0" lang="en-US" altLang="pt-BR" sz="1200" b="0" i="0" u="none" strike="noStrike" cap="none" normalizeH="0" baseline="0" dirty="0">
                <a:ln>
                  <a:noFill/>
                </a:ln>
                <a:effectLst/>
              </a:rPr>
              <a:t> de que o tempo </a:t>
            </a:r>
            <a:r>
              <a:rPr kumimoji="0" lang="en-US" altLang="pt-BR" sz="1200" b="0" i="0" u="none" strike="noStrike" cap="none" normalizeH="0" baseline="0" dirty="0" err="1">
                <a:ln>
                  <a:noFill/>
                </a:ln>
                <a:effectLst/>
              </a:rPr>
              <a:t>máximo</a:t>
            </a:r>
            <a:r>
              <a:rPr kumimoji="0" lang="en-US" altLang="pt-BR" sz="1200" b="0" i="0" u="none" strike="noStrike" cap="none" normalizeH="0" baseline="0" dirty="0">
                <a:ln>
                  <a:noFill/>
                </a:ln>
                <a:effectLst/>
              </a:rPr>
              <a:t> (</a:t>
            </a:r>
            <a:r>
              <a:rPr kumimoji="0" lang="en-US" altLang="pt-BR" sz="1200" b="0" i="0" u="none" strike="noStrike" cap="none" normalizeH="0" baseline="0" dirty="0" err="1">
                <a:ln>
                  <a:noFill/>
                </a:ln>
                <a:effectLst/>
              </a:rPr>
              <a:t>até</a:t>
            </a:r>
            <a:r>
              <a:rPr kumimoji="0" lang="en-US" altLang="pt-BR" sz="1200" b="0" i="0" u="none" strike="noStrike" cap="none" normalizeH="0" baseline="0" dirty="0">
                <a:ln>
                  <a:noFill/>
                </a:ln>
                <a:effectLst/>
              </a:rPr>
              <a:t> 2h30) </a:t>
            </a:r>
            <a:r>
              <a:rPr kumimoji="0" lang="en-US" altLang="pt-BR" sz="1200" b="0" i="0" u="none" strike="noStrike" cap="none" normalizeH="0" baseline="0" dirty="0" err="1">
                <a:ln>
                  <a:noFill/>
                </a:ln>
                <a:effectLst/>
              </a:rPr>
              <a:t>pode</a:t>
            </a:r>
            <a:r>
              <a:rPr kumimoji="0" lang="en-US" altLang="pt-BR" sz="12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pt-BR" sz="1200" b="0" i="0" u="none" strike="noStrike" cap="none" normalizeH="0" baseline="0" dirty="0" err="1">
                <a:ln>
                  <a:noFill/>
                </a:ln>
                <a:effectLst/>
              </a:rPr>
              <a:t>ainda</a:t>
            </a:r>
            <a:r>
              <a:rPr kumimoji="0" lang="en-US" altLang="pt-BR" sz="12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pt-BR" sz="1200" b="0" i="0" u="none" strike="noStrike" cap="none" normalizeH="0" baseline="0" dirty="0" err="1">
                <a:ln>
                  <a:noFill/>
                </a:ln>
                <a:effectLst/>
              </a:rPr>
              <a:t>não</a:t>
            </a:r>
            <a:r>
              <a:rPr kumimoji="0" lang="en-US" altLang="pt-BR" sz="1200" b="0" i="0" u="none" strike="noStrike" cap="none" normalizeH="0" baseline="0" dirty="0">
                <a:ln>
                  <a:noFill/>
                </a:ln>
                <a:effectLst/>
              </a:rPr>
              <a:t> ser </a:t>
            </a:r>
            <a:r>
              <a:rPr kumimoji="0" lang="en-US" altLang="pt-BR" sz="1200" b="0" i="0" u="none" strike="noStrike" cap="none" normalizeH="0" baseline="0" dirty="0" err="1">
                <a:ln>
                  <a:noFill/>
                </a:ln>
                <a:effectLst/>
              </a:rPr>
              <a:t>suficiente</a:t>
            </a:r>
            <a:r>
              <a:rPr kumimoji="0" lang="en-US" altLang="pt-BR" sz="1200" b="0" i="0" u="none" strike="noStrike" cap="none" normalizeH="0" baseline="0" dirty="0">
                <a:ln>
                  <a:noFill/>
                </a:ln>
                <a:effectLst/>
              </a:rPr>
              <a:t> para total </a:t>
            </a:r>
            <a:r>
              <a:rPr kumimoji="0" lang="en-US" altLang="pt-BR" sz="1200" b="0" i="0" u="none" strike="noStrike" cap="none" normalizeH="0" baseline="0" dirty="0" err="1">
                <a:ln>
                  <a:noFill/>
                </a:ln>
                <a:effectLst/>
              </a:rPr>
              <a:t>convergência</a:t>
            </a:r>
            <a:r>
              <a:rPr kumimoji="0" lang="en-US" altLang="pt-BR" sz="12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Redução de Custo (%) por Instância</a:t>
            </a:r>
          </a:p>
        </p:txBody>
      </p:sp>
      <p:pic>
        <p:nvPicPr>
          <p:cNvPr id="3" name="Picture 2" descr="grafico_reducao_cus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864" y="1966293"/>
            <a:ext cx="7420269" cy="445216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Taxa Média de Ocupação por Instância</a:t>
            </a:r>
          </a:p>
        </p:txBody>
      </p:sp>
      <p:pic>
        <p:nvPicPr>
          <p:cNvPr id="3" name="Picture 2" descr="grafico_ocupa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864" y="1966293"/>
            <a:ext cx="7420269" cy="445216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Total de Vizinhos Aceitos por Instância</a:t>
            </a:r>
          </a:p>
        </p:txBody>
      </p:sp>
      <p:pic>
        <p:nvPicPr>
          <p:cNvPr id="3" name="Picture 2" descr="grafico_vizinhos_acei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864" y="1966293"/>
            <a:ext cx="7420269" cy="445216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Total de Vizinhos Rejeitados por Instância</a:t>
            </a:r>
          </a:p>
        </p:txBody>
      </p:sp>
      <p:pic>
        <p:nvPicPr>
          <p:cNvPr id="3" name="Picture 2" descr="grafico_vizinhos_rejeitad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864" y="1966293"/>
            <a:ext cx="7420269" cy="445216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Soluções Piores Aceitas (Método de Metropolis)</a:t>
            </a:r>
          </a:p>
        </p:txBody>
      </p:sp>
      <p:pic>
        <p:nvPicPr>
          <p:cNvPr id="3" name="Picture 2" descr="grafico_piores_aceit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864" y="1966293"/>
            <a:ext cx="7420269" cy="445216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pt-BR" sz="3500" dirty="0">
                <a:solidFill>
                  <a:srgbClr val="FFFFFF"/>
                </a:solidFill>
              </a:rPr>
              <a:t>Conclusões Parciais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pt-BR" sz="1300"/>
              <a:t>• Redução de Custo: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sz="1300"/>
              <a:t>  - SA reduziu o custo em todas as instâncias testadas.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sz="1300"/>
              <a:t>  - Destaques: H&amp;Sconc100-2-6 (−17,3%), H&amp;Sconc2000-2-1 (−17.958).</a:t>
            </a:r>
          </a:p>
          <a:p>
            <a:pPr marL="0" indent="0">
              <a:lnSpc>
                <a:spcPct val="90000"/>
              </a:lnSpc>
              <a:buNone/>
            </a:pPr>
            <a:endParaRPr lang="pt-BR" sz="1300"/>
          </a:p>
          <a:p>
            <a:pPr marL="0" indent="0">
              <a:lnSpc>
                <a:spcPct val="90000"/>
              </a:lnSpc>
              <a:buNone/>
            </a:pPr>
            <a:r>
              <a:rPr lang="pt-BR" sz="1300"/>
              <a:t>• Taxa Média de Ocupação: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sz="1300"/>
              <a:t>  - Variou entre 94,71% e 95,88%.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sz="1300"/>
              <a:t>  - Ocupações superiores a 95% em instâncias pequenas e médias.</a:t>
            </a:r>
          </a:p>
          <a:p>
            <a:pPr marL="0" indent="0">
              <a:lnSpc>
                <a:spcPct val="90000"/>
              </a:lnSpc>
              <a:buNone/>
            </a:pPr>
            <a:endParaRPr lang="pt-BR" sz="1300"/>
          </a:p>
          <a:p>
            <a:pPr marL="0" indent="0">
              <a:lnSpc>
                <a:spcPct val="90000"/>
              </a:lnSpc>
              <a:buNone/>
            </a:pPr>
            <a:r>
              <a:rPr lang="pt-BR" sz="1300"/>
              <a:t>• Vizinhos Aceitos vs Rejeitados: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sz="1300"/>
              <a:t>  - Muitas soluções piores foram aceitas via Metropolis (ex: 4.953 em 100-2-6).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sz="1300"/>
              <a:t>  - Rejeições muito baixas em instâncias grandes.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sz="1300"/>
              <a:t>  - Isso reforça a efetividade dos parâmetros usados (T0, alpha).</a:t>
            </a:r>
          </a:p>
          <a:p>
            <a:pPr marL="0" indent="0">
              <a:lnSpc>
                <a:spcPct val="90000"/>
              </a:lnSpc>
              <a:buNone/>
            </a:pPr>
            <a:endParaRPr lang="pt-BR" sz="1300"/>
          </a:p>
          <a:p>
            <a:pPr marL="0" indent="0">
              <a:lnSpc>
                <a:spcPct val="90000"/>
              </a:lnSpc>
              <a:buNone/>
            </a:pPr>
            <a:r>
              <a:rPr lang="pt-BR" sz="1300"/>
              <a:t>• Convergência: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sz="1300"/>
              <a:t>  - Instâncias pequenas convergem bem em 150s.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sz="1300"/>
              <a:t>  - Instâncias grandes ainda mostravam melhora mesmo após 9.000s.</a:t>
            </a:r>
          </a:p>
          <a:p>
            <a:pPr marL="0" indent="0">
              <a:lnSpc>
                <a:spcPct val="90000"/>
              </a:lnSpc>
              <a:buNone/>
            </a:pPr>
            <a:endParaRPr lang="pt-BR" sz="1300"/>
          </a:p>
          <a:p>
            <a:pPr marL="0" indent="0">
              <a:lnSpc>
                <a:spcPct val="90000"/>
              </a:lnSpc>
              <a:buNone/>
            </a:pPr>
            <a:r>
              <a:rPr lang="pt-BR" sz="1300"/>
              <a:t>• Conclusão: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sz="1300"/>
              <a:t>  - Simulated Annealing é eficaz para o VSBPP.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sz="1300"/>
              <a:t>  - A aceitação de soluções piores ajuda a evitar ótimos locais e permite explorar soluções de melhor qualidade.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8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9144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140040" y="-1133192"/>
            <a:ext cx="6858001" cy="9124385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71072" y="0"/>
            <a:ext cx="4572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3"/>
            <a:ext cx="9137153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784" y="4049"/>
            <a:ext cx="7662432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CB03A47-D0B6-8443-9029-3A43A1EFC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9094" y="1658806"/>
            <a:ext cx="6110785" cy="30812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42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Estudo</a:t>
            </a:r>
            <a:r>
              <a:rPr lang="en-US" sz="4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42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Sensibilidade</a:t>
            </a:r>
            <a:endParaRPr lang="en-US" sz="42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2888719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C37745-CA9B-2317-22FB-7930F5A7D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338899" y="918266"/>
            <a:ext cx="529596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338409" y="643467"/>
            <a:ext cx="315230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78790" y="643467"/>
            <a:ext cx="8200127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Imagem 3" descr="Gráfico, Gráfico de linhas&#10;&#10;O conteúdo gerado por IA pode estar incorreto.">
            <a:extLst>
              <a:ext uri="{FF2B5EF4-FFF2-40B4-BE49-F238E27FC236}">
                <a16:creationId xmlns:a16="http://schemas.microsoft.com/office/drawing/2014/main" id="{5119E797-C477-9354-9F59-96A93A819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060" y="1286934"/>
            <a:ext cx="6871881" cy="410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4380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ABAB5C-DCB4-6EC6-C49B-F4DA43140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338899" y="918266"/>
            <a:ext cx="529596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338409" y="643467"/>
            <a:ext cx="315230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78790" y="643467"/>
            <a:ext cx="8200127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Imagem 5" descr="Gráfico, Gráfico de linhas&#10;&#10;O conteúdo gerado por IA pode estar incorreto.">
            <a:extLst>
              <a:ext uri="{FF2B5EF4-FFF2-40B4-BE49-F238E27FC236}">
                <a16:creationId xmlns:a16="http://schemas.microsoft.com/office/drawing/2014/main" id="{36D1FDD4-8009-BB77-02B9-ADD2221684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311" y="1286934"/>
            <a:ext cx="6517379" cy="410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8915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2A2556-C4C2-DAAF-128D-7F1189637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338899" y="918266"/>
            <a:ext cx="529596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338409" y="643467"/>
            <a:ext cx="315230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78790" y="643467"/>
            <a:ext cx="8200127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Imagem 9" descr="Gráfico, Gráfico de linhas&#10;&#10;O conteúdo gerado por IA pode estar incorreto.">
            <a:extLst>
              <a:ext uri="{FF2B5EF4-FFF2-40B4-BE49-F238E27FC236}">
                <a16:creationId xmlns:a16="http://schemas.microsoft.com/office/drawing/2014/main" id="{A15600DC-5FDA-79CC-AD93-66A4661CA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311" y="1286934"/>
            <a:ext cx="6517379" cy="410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92010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80A81A-76DE-95FF-2643-DCCC9D885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338899" y="918266"/>
            <a:ext cx="529596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338409" y="643467"/>
            <a:ext cx="315230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78790" y="643467"/>
            <a:ext cx="8200127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3" name="Imagem 12" descr="Gráfico, Gráfico de linhas&#10;&#10;O conteúdo gerado por IA pode estar incorreto.">
            <a:extLst>
              <a:ext uri="{FF2B5EF4-FFF2-40B4-BE49-F238E27FC236}">
                <a16:creationId xmlns:a16="http://schemas.microsoft.com/office/drawing/2014/main" id="{51D9F1B6-5E82-0034-1D72-016D6842F7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311" y="1286934"/>
            <a:ext cx="6517379" cy="410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5623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838B6A-9E7C-D271-313A-E04333D87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338899" y="918266"/>
            <a:ext cx="529596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338409" y="643467"/>
            <a:ext cx="315230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78790" y="643467"/>
            <a:ext cx="8200127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398897E8-0091-6171-274B-6464C2ED23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311" y="1286934"/>
            <a:ext cx="6517379" cy="410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4116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99F732-898B-609B-D349-898A2534C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338899" y="918266"/>
            <a:ext cx="529596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338409" y="643467"/>
            <a:ext cx="315230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78790" y="643467"/>
            <a:ext cx="8200127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7" name="Imagem 16" descr="Gráfico, Gráfico de linhas&#10;&#10;O conteúdo gerado por IA pode estar incorreto.">
            <a:extLst>
              <a:ext uri="{FF2B5EF4-FFF2-40B4-BE49-F238E27FC236}">
                <a16:creationId xmlns:a16="http://schemas.microsoft.com/office/drawing/2014/main" id="{534160E2-B7D6-404B-8B32-65D290CD95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311" y="1286934"/>
            <a:ext cx="6517379" cy="410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78041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338899" y="918266"/>
            <a:ext cx="529596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338409" y="643467"/>
            <a:ext cx="315230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78790" y="643467"/>
            <a:ext cx="8200127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BD224E71-E0AE-C49E-8CB2-BA656F41D5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0907658"/>
              </p:ext>
            </p:extLst>
          </p:nvPr>
        </p:nvGraphicFramePr>
        <p:xfrm>
          <a:off x="947683" y="1830632"/>
          <a:ext cx="7248638" cy="301856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896620">
                  <a:extLst>
                    <a:ext uri="{9D8B030D-6E8A-4147-A177-3AD203B41FA5}">
                      <a16:colId xmlns:a16="http://schemas.microsoft.com/office/drawing/2014/main" val="819132899"/>
                    </a:ext>
                  </a:extLst>
                </a:gridCol>
                <a:gridCol w="985382">
                  <a:extLst>
                    <a:ext uri="{9D8B030D-6E8A-4147-A177-3AD203B41FA5}">
                      <a16:colId xmlns:a16="http://schemas.microsoft.com/office/drawing/2014/main" val="3840457777"/>
                    </a:ext>
                  </a:extLst>
                </a:gridCol>
                <a:gridCol w="1054251">
                  <a:extLst>
                    <a:ext uri="{9D8B030D-6E8A-4147-A177-3AD203B41FA5}">
                      <a16:colId xmlns:a16="http://schemas.microsoft.com/office/drawing/2014/main" val="2225338658"/>
                    </a:ext>
                  </a:extLst>
                </a:gridCol>
                <a:gridCol w="1170637">
                  <a:extLst>
                    <a:ext uri="{9D8B030D-6E8A-4147-A177-3AD203B41FA5}">
                      <a16:colId xmlns:a16="http://schemas.microsoft.com/office/drawing/2014/main" val="3193934803"/>
                    </a:ext>
                  </a:extLst>
                </a:gridCol>
                <a:gridCol w="1637943">
                  <a:extLst>
                    <a:ext uri="{9D8B030D-6E8A-4147-A177-3AD203B41FA5}">
                      <a16:colId xmlns:a16="http://schemas.microsoft.com/office/drawing/2014/main" val="3817051595"/>
                    </a:ext>
                  </a:extLst>
                </a:gridCol>
                <a:gridCol w="1503805">
                  <a:extLst>
                    <a:ext uri="{9D8B030D-6E8A-4147-A177-3AD203B41FA5}">
                      <a16:colId xmlns:a16="http://schemas.microsoft.com/office/drawing/2014/main" val="1247527922"/>
                    </a:ext>
                  </a:extLst>
                </a:gridCol>
              </a:tblGrid>
              <a:tr h="377320">
                <a:tc>
                  <a:txBody>
                    <a:bodyPr/>
                    <a:lstStyle/>
                    <a:p>
                      <a:pPr algn="l" fontAlgn="b"/>
                      <a:endParaRPr lang="pt-BR" sz="1300" b="1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4008" marR="8021" marT="77004" marB="7700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1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T0</a:t>
                      </a:r>
                    </a:p>
                  </a:txBody>
                  <a:tcPr marL="154008" marR="8021" marT="77004" marB="7700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1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alpha</a:t>
                      </a:r>
                    </a:p>
                  </a:txBody>
                  <a:tcPr marL="154008" marR="8021" marT="77004" marB="7700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1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SAmax</a:t>
                      </a:r>
                    </a:p>
                  </a:txBody>
                  <a:tcPr marL="154008" marR="8021" marT="77004" marB="7700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1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Custo_Final</a:t>
                      </a:r>
                    </a:p>
                  </a:txBody>
                  <a:tcPr marL="154008" marR="8021" marT="77004" marB="7700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1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Categoria</a:t>
                      </a:r>
                    </a:p>
                  </a:txBody>
                  <a:tcPr marL="154008" marR="8021" marT="77004" marB="7700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9223387"/>
                  </a:ext>
                </a:extLst>
              </a:tr>
              <a:tr h="377320">
                <a:tc>
                  <a:txBody>
                    <a:bodyPr/>
                    <a:lstStyle/>
                    <a:p>
                      <a:pPr algn="r" fontAlgn="b"/>
                      <a:r>
                        <a:rPr lang="pt-BR" sz="13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11</a:t>
                      </a:r>
                    </a:p>
                  </a:txBody>
                  <a:tcPr marL="154008" marR="8021" marT="77004" marB="77004" anchor="b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3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154008" marR="8021" marT="77004" marB="77004" anchor="b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3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0.90</a:t>
                      </a:r>
                    </a:p>
                  </a:txBody>
                  <a:tcPr marL="154008" marR="8021" marT="77004" marB="77004" anchor="b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3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500</a:t>
                      </a:r>
                    </a:p>
                  </a:txBody>
                  <a:tcPr marL="154008" marR="8021" marT="77004" marB="77004" anchor="b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3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45488</a:t>
                      </a:r>
                    </a:p>
                  </a:txBody>
                  <a:tcPr marL="154008" marR="8021" marT="77004" marB="77004" anchor="b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Melhor por T0</a:t>
                      </a:r>
                    </a:p>
                  </a:txBody>
                  <a:tcPr marL="154008" marR="8021" marT="77004" marB="77004" anchor="b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6232875"/>
                  </a:ext>
                </a:extLst>
              </a:tr>
              <a:tr h="377320">
                <a:tc>
                  <a:txBody>
                    <a:bodyPr/>
                    <a:lstStyle/>
                    <a:p>
                      <a:pPr algn="r" fontAlgn="b"/>
                      <a:r>
                        <a:rPr lang="pt-BR" sz="13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23</a:t>
                      </a:r>
                    </a:p>
                  </a:txBody>
                  <a:tcPr marL="154008" marR="8021" marT="77004" marB="77004" anchor="b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3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500</a:t>
                      </a:r>
                    </a:p>
                  </a:txBody>
                  <a:tcPr marL="154008" marR="8021" marT="77004" marB="77004" anchor="b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3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0.95</a:t>
                      </a:r>
                    </a:p>
                  </a:txBody>
                  <a:tcPr marL="154008" marR="8021" marT="77004" marB="77004" anchor="b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3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500</a:t>
                      </a:r>
                    </a:p>
                  </a:txBody>
                  <a:tcPr marL="154008" marR="8021" marT="77004" marB="77004" anchor="b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3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42962</a:t>
                      </a:r>
                    </a:p>
                  </a:txBody>
                  <a:tcPr marL="154008" marR="8021" marT="77004" marB="77004" anchor="b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Melhor por T0</a:t>
                      </a:r>
                    </a:p>
                  </a:txBody>
                  <a:tcPr marL="154008" marR="8021" marT="77004" marB="77004" anchor="b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5632679"/>
                  </a:ext>
                </a:extLst>
              </a:tr>
              <a:tr h="377320">
                <a:tc>
                  <a:txBody>
                    <a:bodyPr/>
                    <a:lstStyle/>
                    <a:p>
                      <a:pPr algn="r" fontAlgn="b"/>
                      <a:r>
                        <a:rPr lang="pt-BR" sz="13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25</a:t>
                      </a:r>
                    </a:p>
                  </a:txBody>
                  <a:tcPr marL="154008" marR="8021" marT="77004" marB="77004" anchor="b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3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1000</a:t>
                      </a:r>
                    </a:p>
                  </a:txBody>
                  <a:tcPr marL="154008" marR="8021" marT="77004" marB="77004" anchor="b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3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0.95</a:t>
                      </a:r>
                    </a:p>
                  </a:txBody>
                  <a:tcPr marL="154008" marR="8021" marT="77004" marB="77004" anchor="b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3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250</a:t>
                      </a:r>
                    </a:p>
                  </a:txBody>
                  <a:tcPr marL="154008" marR="8021" marT="77004" marB="77004" anchor="b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3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43493</a:t>
                      </a:r>
                    </a:p>
                  </a:txBody>
                  <a:tcPr marL="154008" marR="8021" marT="77004" marB="77004" anchor="b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Melhor por T0</a:t>
                      </a:r>
                    </a:p>
                  </a:txBody>
                  <a:tcPr marL="154008" marR="8021" marT="77004" marB="77004" anchor="b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6398913"/>
                  </a:ext>
                </a:extLst>
              </a:tr>
              <a:tr h="377320">
                <a:tc>
                  <a:txBody>
                    <a:bodyPr/>
                    <a:lstStyle/>
                    <a:p>
                      <a:pPr algn="r" fontAlgn="b"/>
                      <a:r>
                        <a:rPr lang="pt-BR" sz="13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154008" marR="8021" marT="77004" marB="77004" anchor="b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3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1000</a:t>
                      </a:r>
                    </a:p>
                  </a:txBody>
                  <a:tcPr marL="154008" marR="8021" marT="77004" marB="77004" anchor="b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3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0.85</a:t>
                      </a:r>
                    </a:p>
                  </a:txBody>
                  <a:tcPr marL="154008" marR="8021" marT="77004" marB="77004" anchor="b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3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500</a:t>
                      </a:r>
                    </a:p>
                  </a:txBody>
                  <a:tcPr marL="154008" marR="8021" marT="77004" marB="77004" anchor="b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3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43820</a:t>
                      </a:r>
                    </a:p>
                  </a:txBody>
                  <a:tcPr marL="154008" marR="8021" marT="77004" marB="77004" anchor="b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Melhor por Alpha</a:t>
                      </a:r>
                    </a:p>
                  </a:txBody>
                  <a:tcPr marL="154008" marR="8021" marT="77004" marB="77004" anchor="b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0550592"/>
                  </a:ext>
                </a:extLst>
              </a:tr>
              <a:tr h="377320">
                <a:tc>
                  <a:txBody>
                    <a:bodyPr/>
                    <a:lstStyle/>
                    <a:p>
                      <a:pPr algn="r" fontAlgn="b"/>
                      <a:r>
                        <a:rPr lang="pt-BR" sz="13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16</a:t>
                      </a:r>
                    </a:p>
                  </a:txBody>
                  <a:tcPr marL="154008" marR="8021" marT="77004" marB="77004" anchor="b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3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1000</a:t>
                      </a:r>
                    </a:p>
                  </a:txBody>
                  <a:tcPr marL="154008" marR="8021" marT="77004" marB="77004" anchor="b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3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0.90</a:t>
                      </a:r>
                    </a:p>
                  </a:txBody>
                  <a:tcPr marL="154008" marR="8021" marT="77004" marB="77004" anchor="b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3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250</a:t>
                      </a:r>
                    </a:p>
                  </a:txBody>
                  <a:tcPr marL="154008" marR="8021" marT="77004" marB="77004" anchor="b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3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44409</a:t>
                      </a:r>
                    </a:p>
                  </a:txBody>
                  <a:tcPr marL="154008" marR="8021" marT="77004" marB="77004" anchor="b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Melhor por Alpha</a:t>
                      </a:r>
                    </a:p>
                  </a:txBody>
                  <a:tcPr marL="154008" marR="8021" marT="77004" marB="77004" anchor="b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976461"/>
                  </a:ext>
                </a:extLst>
              </a:tr>
              <a:tr h="377320">
                <a:tc>
                  <a:txBody>
                    <a:bodyPr/>
                    <a:lstStyle/>
                    <a:p>
                      <a:pPr algn="r" fontAlgn="b"/>
                      <a:r>
                        <a:rPr lang="pt-BR" sz="13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23</a:t>
                      </a:r>
                    </a:p>
                  </a:txBody>
                  <a:tcPr marL="154008" marR="8021" marT="77004" marB="77004" anchor="b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3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500</a:t>
                      </a:r>
                    </a:p>
                  </a:txBody>
                  <a:tcPr marL="154008" marR="8021" marT="77004" marB="77004" anchor="b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3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0.95</a:t>
                      </a:r>
                    </a:p>
                  </a:txBody>
                  <a:tcPr marL="154008" marR="8021" marT="77004" marB="77004" anchor="b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3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500</a:t>
                      </a:r>
                    </a:p>
                  </a:txBody>
                  <a:tcPr marL="154008" marR="8021" marT="77004" marB="77004" anchor="b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3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42962</a:t>
                      </a:r>
                    </a:p>
                  </a:txBody>
                  <a:tcPr marL="154008" marR="8021" marT="77004" marB="77004" anchor="b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Melhor por Alpha</a:t>
                      </a:r>
                    </a:p>
                  </a:txBody>
                  <a:tcPr marL="154008" marR="8021" marT="77004" marB="77004" anchor="b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3166691"/>
                  </a:ext>
                </a:extLst>
              </a:tr>
              <a:tr h="377320">
                <a:tc>
                  <a:txBody>
                    <a:bodyPr/>
                    <a:lstStyle/>
                    <a:p>
                      <a:pPr algn="r" fontAlgn="b"/>
                      <a:r>
                        <a:rPr lang="pt-BR" sz="13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23</a:t>
                      </a:r>
                    </a:p>
                  </a:txBody>
                  <a:tcPr marL="154008" marR="8021" marT="77004" marB="77004" anchor="b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3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500</a:t>
                      </a:r>
                    </a:p>
                  </a:txBody>
                  <a:tcPr marL="154008" marR="8021" marT="77004" marB="77004" anchor="b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3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0.95</a:t>
                      </a:r>
                    </a:p>
                  </a:txBody>
                  <a:tcPr marL="154008" marR="8021" marT="77004" marB="77004" anchor="b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3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500</a:t>
                      </a:r>
                    </a:p>
                  </a:txBody>
                  <a:tcPr marL="154008" marR="8021" marT="77004" marB="77004" anchor="b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3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42962</a:t>
                      </a:r>
                    </a:p>
                  </a:txBody>
                  <a:tcPr marL="154008" marR="8021" marT="77004" marB="77004" anchor="b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Melhor Absoluto</a:t>
                      </a:r>
                    </a:p>
                  </a:txBody>
                  <a:tcPr marL="154008" marR="8021" marT="77004" marB="77004" anchor="b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27505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353160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DB7C14A-5A8A-9182-6CB9-DF5B0DCCE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35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Conclusões</a:t>
            </a: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5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Parciais</a:t>
            </a: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3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777A43A-F121-15EF-5A8C-701AAAE2E510}"/>
              </a:ext>
            </a:extLst>
          </p:cNvPr>
          <p:cNvSpPr txBox="1"/>
          <p:nvPr/>
        </p:nvSpPr>
        <p:spPr>
          <a:xfrm>
            <a:off x="3259455" y="401830"/>
            <a:ext cx="5628325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b="1" dirty="0" err="1"/>
              <a:t>Influência</a:t>
            </a:r>
            <a:r>
              <a:rPr lang="en-US" sz="2000" b="1" dirty="0"/>
              <a:t> de T0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en-US" sz="1700" dirty="0"/>
          </a:p>
          <a:p>
            <a:pPr marL="285750" indent="-28575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alpha = 0.85: T0 = 500 e T0 = 1000 </a:t>
            </a:r>
            <a:r>
              <a:rPr lang="en-US" sz="1700" dirty="0" err="1"/>
              <a:t>tiveram</a:t>
            </a:r>
            <a:r>
              <a:rPr lang="en-US" sz="1700" dirty="0"/>
              <a:t> </a:t>
            </a:r>
            <a:r>
              <a:rPr lang="en-US" sz="1700" dirty="0" err="1"/>
              <a:t>desempenho</a:t>
            </a:r>
            <a:r>
              <a:rPr lang="en-US" sz="1700" dirty="0"/>
              <a:t> </a:t>
            </a:r>
            <a:r>
              <a:rPr lang="en-US" sz="1700" dirty="0" err="1"/>
              <a:t>melhor</a:t>
            </a:r>
            <a:r>
              <a:rPr lang="en-US" sz="1700" dirty="0"/>
              <a:t> à </a:t>
            </a:r>
            <a:r>
              <a:rPr lang="en-US" sz="1700" dirty="0" err="1"/>
              <a:t>medida</a:t>
            </a:r>
            <a:r>
              <a:rPr lang="en-US" sz="1700" dirty="0"/>
              <a:t> que </a:t>
            </a:r>
            <a:r>
              <a:rPr lang="en-US" sz="1700" dirty="0" err="1"/>
              <a:t>SAmax</a:t>
            </a:r>
            <a:r>
              <a:rPr lang="en-US" sz="1700" dirty="0"/>
              <a:t> </a:t>
            </a:r>
            <a:r>
              <a:rPr lang="en-US" sz="1700" dirty="0" err="1"/>
              <a:t>aumentou</a:t>
            </a:r>
            <a:r>
              <a:rPr lang="en-US" sz="1700" dirty="0"/>
              <a:t>.</a:t>
            </a:r>
          </a:p>
          <a:p>
            <a:pPr marL="285750" indent="-28575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alpha = 0.90: </a:t>
            </a:r>
            <a:r>
              <a:rPr lang="en-US" sz="1700" dirty="0" err="1"/>
              <a:t>comportamento</a:t>
            </a:r>
            <a:r>
              <a:rPr lang="en-US" sz="1700" dirty="0"/>
              <a:t> </a:t>
            </a:r>
            <a:r>
              <a:rPr lang="en-US" sz="1700" dirty="0" err="1"/>
              <a:t>instável</a:t>
            </a:r>
            <a:r>
              <a:rPr lang="en-US" sz="1700" dirty="0"/>
              <a:t> </a:t>
            </a:r>
            <a:r>
              <a:rPr lang="en-US" sz="1700" dirty="0" err="1"/>
              <a:t>em</a:t>
            </a:r>
            <a:r>
              <a:rPr lang="en-US" sz="1700" dirty="0"/>
              <a:t> T0 = 100; </a:t>
            </a:r>
            <a:r>
              <a:rPr lang="en-US" sz="1700" dirty="0" err="1"/>
              <a:t>já</a:t>
            </a:r>
            <a:r>
              <a:rPr lang="en-US" sz="1700" dirty="0"/>
              <a:t> T0 = 500 e 1000 </a:t>
            </a:r>
            <a:r>
              <a:rPr lang="en-US" sz="1700" dirty="0" err="1"/>
              <a:t>mostraram</a:t>
            </a:r>
            <a:r>
              <a:rPr lang="en-US" sz="1700" dirty="0"/>
              <a:t> </a:t>
            </a:r>
            <a:r>
              <a:rPr lang="en-US" sz="1700" dirty="0" err="1"/>
              <a:t>redução</a:t>
            </a:r>
            <a:r>
              <a:rPr lang="en-US" sz="1700" dirty="0"/>
              <a:t> </a:t>
            </a:r>
            <a:r>
              <a:rPr lang="en-US" sz="1700" dirty="0" err="1"/>
              <a:t>consistente</a:t>
            </a:r>
            <a:r>
              <a:rPr lang="en-US" sz="1700" dirty="0"/>
              <a:t>.</a:t>
            </a:r>
          </a:p>
          <a:p>
            <a:pPr marL="285750" indent="-28575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alpha = 0.95: </a:t>
            </a:r>
            <a:r>
              <a:rPr lang="en-US" sz="1700" dirty="0" err="1"/>
              <a:t>destaque</a:t>
            </a:r>
            <a:r>
              <a:rPr lang="en-US" sz="1700" dirty="0"/>
              <a:t> para T0 = 500, que </a:t>
            </a:r>
            <a:r>
              <a:rPr lang="en-US" sz="1700" dirty="0" err="1"/>
              <a:t>atingiu</a:t>
            </a:r>
            <a:r>
              <a:rPr lang="en-US" sz="1700" dirty="0"/>
              <a:t> o </a:t>
            </a:r>
            <a:r>
              <a:rPr lang="en-US" sz="1700" dirty="0" err="1"/>
              <a:t>menor</a:t>
            </a:r>
            <a:r>
              <a:rPr lang="en-US" sz="1700" dirty="0"/>
              <a:t> </a:t>
            </a:r>
            <a:r>
              <a:rPr lang="en-US" sz="1700" dirty="0" err="1"/>
              <a:t>custo</a:t>
            </a:r>
            <a:r>
              <a:rPr lang="en-US" sz="1700" dirty="0"/>
              <a:t> final (42962).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en-US" sz="1700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en-US" sz="1700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b="1" dirty="0" err="1"/>
              <a:t>Influência</a:t>
            </a:r>
            <a:r>
              <a:rPr lang="en-US" sz="2000" b="1" dirty="0"/>
              <a:t> de Alpha</a:t>
            </a:r>
          </a:p>
          <a:p>
            <a:pPr marL="285750" indent="-28575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 marL="285750" indent="-28575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T0 = 100: </a:t>
            </a:r>
            <a:r>
              <a:rPr lang="en-US" sz="1700" dirty="0" err="1"/>
              <a:t>melhor</a:t>
            </a:r>
            <a:r>
              <a:rPr lang="en-US" sz="1700" dirty="0"/>
              <a:t> </a:t>
            </a:r>
            <a:r>
              <a:rPr lang="en-US" sz="1700" dirty="0" err="1"/>
              <a:t>desempenho</a:t>
            </a:r>
            <a:r>
              <a:rPr lang="en-US" sz="1700" dirty="0"/>
              <a:t> para alpha = 0.95 com </a:t>
            </a:r>
            <a:r>
              <a:rPr lang="en-US" sz="1700" dirty="0" err="1"/>
              <a:t>SAmax</a:t>
            </a:r>
            <a:r>
              <a:rPr lang="en-US" sz="1700" dirty="0"/>
              <a:t> = 500 (</a:t>
            </a:r>
            <a:r>
              <a:rPr lang="en-US" sz="1700" dirty="0" err="1"/>
              <a:t>custo</a:t>
            </a:r>
            <a:r>
              <a:rPr lang="en-US" sz="1700" dirty="0"/>
              <a:t> = 46102).</a:t>
            </a:r>
          </a:p>
          <a:p>
            <a:pPr marL="285750" indent="-28575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T0 = 500: alpha = 0.95 </a:t>
            </a:r>
            <a:r>
              <a:rPr lang="en-US" sz="1700" dirty="0" err="1"/>
              <a:t>claramente</a:t>
            </a:r>
            <a:r>
              <a:rPr lang="en-US" sz="1700" dirty="0"/>
              <a:t> </a:t>
            </a:r>
            <a:r>
              <a:rPr lang="en-US" sz="1700" dirty="0" err="1"/>
              <a:t>dominante</a:t>
            </a:r>
            <a:r>
              <a:rPr lang="en-US" sz="1700" dirty="0"/>
              <a:t> com </a:t>
            </a:r>
            <a:r>
              <a:rPr lang="en-US" sz="1700" dirty="0" err="1"/>
              <a:t>menor</a:t>
            </a:r>
            <a:r>
              <a:rPr lang="en-US" sz="1700" dirty="0"/>
              <a:t> </a:t>
            </a:r>
            <a:r>
              <a:rPr lang="en-US" sz="1700" dirty="0" err="1"/>
              <a:t>custo</a:t>
            </a:r>
            <a:r>
              <a:rPr lang="en-US" sz="1700" dirty="0"/>
              <a:t> </a:t>
            </a:r>
            <a:r>
              <a:rPr lang="en-US" sz="1700" dirty="0" err="1"/>
              <a:t>atingido</a:t>
            </a:r>
            <a:r>
              <a:rPr lang="en-US" sz="1700" dirty="0"/>
              <a:t> (42962).</a:t>
            </a:r>
          </a:p>
          <a:p>
            <a:pPr marL="285750" indent="-28575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T0 = 1000: alpha = 0.95 e </a:t>
            </a:r>
            <a:r>
              <a:rPr lang="en-US" sz="1700" dirty="0" err="1"/>
              <a:t>SAmax</a:t>
            </a:r>
            <a:r>
              <a:rPr lang="en-US" sz="1700" dirty="0"/>
              <a:t> = 250 </a:t>
            </a:r>
            <a:r>
              <a:rPr lang="en-US" sz="1700" dirty="0" err="1"/>
              <a:t>também</a:t>
            </a:r>
            <a:r>
              <a:rPr lang="en-US" sz="1700" dirty="0"/>
              <a:t> se </a:t>
            </a:r>
            <a:r>
              <a:rPr lang="en-US" sz="1700" dirty="0" err="1"/>
              <a:t>destacaram</a:t>
            </a:r>
            <a:r>
              <a:rPr lang="en-US" sz="1700" dirty="0"/>
              <a:t> (</a:t>
            </a:r>
            <a:r>
              <a:rPr lang="en-US" sz="1700" dirty="0" err="1"/>
              <a:t>custo</a:t>
            </a:r>
            <a:r>
              <a:rPr lang="en-US" sz="1700" dirty="0"/>
              <a:t> = 43493).</a:t>
            </a:r>
          </a:p>
        </p:txBody>
      </p:sp>
    </p:spTree>
    <p:extLst>
      <p:ext uri="{BB962C8B-B14F-4D97-AF65-F5344CB8AC3E}">
        <p14:creationId xmlns:p14="http://schemas.microsoft.com/office/powerpoint/2010/main" val="37032857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466</TotalTime>
  <Words>952</Words>
  <Application>Microsoft Office PowerPoint</Application>
  <PresentationFormat>Apresentação na tela (4:3)</PresentationFormat>
  <Paragraphs>152</Paragraphs>
  <Slides>43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43</vt:i4>
      </vt:variant>
    </vt:vector>
  </HeadingPairs>
  <TitlesOfParts>
    <vt:vector size="48" baseType="lpstr">
      <vt:lpstr>Aptos Narrow</vt:lpstr>
      <vt:lpstr>Arial</vt:lpstr>
      <vt:lpstr>Calibri</vt:lpstr>
      <vt:lpstr>Wingdings</vt:lpstr>
      <vt:lpstr>Office Theme</vt:lpstr>
      <vt:lpstr>Análise Experimental  Busca Local /Simulated Annealing vs. VNS (Hemmelmayr et al., 2012)</vt:lpstr>
      <vt:lpstr>Contexto da Análise</vt:lpstr>
      <vt:lpstr>Métrica de Avaliação</vt:lpstr>
      <vt:lpstr>Distribuição dos GAPs por Método</vt:lpstr>
      <vt:lpstr>GAPs por Instância (Seleção Representativa)</vt:lpstr>
      <vt:lpstr>Evolução do GAP Médio por Tamanho de Instância</vt:lpstr>
      <vt:lpstr>Distribuição dos GAPs médios por #Itens e Função-Custo</vt:lpstr>
      <vt:lpstr>Conclusões Iniciais</vt:lpstr>
      <vt:lpstr>Análise de Convergência</vt:lpstr>
      <vt:lpstr>Padrões Observados nos Gráficos de Convergência</vt:lpstr>
      <vt:lpstr>Conclusões Parciais 1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Redução de Custo (%) por Instância</vt:lpstr>
      <vt:lpstr>Taxa Média de Ocupação por Instância</vt:lpstr>
      <vt:lpstr>Total de Vizinhos Aceitos por Instância</vt:lpstr>
      <vt:lpstr>Total de Vizinhos Rejeitados por Instância</vt:lpstr>
      <vt:lpstr>Soluções Piores Aceitas (Método de Metropolis)</vt:lpstr>
      <vt:lpstr>Conclusões Parciais 2</vt:lpstr>
      <vt:lpstr>Estudo de Sensibilidade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Conclusões Parciais 3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Afonso Pires</cp:lastModifiedBy>
  <cp:revision>22</cp:revision>
  <dcterms:created xsi:type="dcterms:W3CDTF">2013-01-27T09:14:16Z</dcterms:created>
  <dcterms:modified xsi:type="dcterms:W3CDTF">2025-04-22T22:31:38Z</dcterms:modified>
  <cp:category/>
</cp:coreProperties>
</file>